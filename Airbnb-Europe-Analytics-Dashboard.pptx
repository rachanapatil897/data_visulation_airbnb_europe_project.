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embedTrueTypeFonts="1" saveSubsetFonts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/>
  <p:notesSz cx="8229600" cy="14630400"/>
  <p:embeddedFontLst>
    <p:embeddedFont>
      <p:font typeface="Instrument Sans Medium" pitchFamily="0" charset="0"/>
      <p:regular r:id="rId17"/>
    </p:embeddedFont>
    <p:embeddedFont>
      <p:font typeface="Inter" pitchFamily="0" charset="0"/>
      <p:regular r:id="rId18"/>
      <p:bold r:id="rId19"/>
      <p:boldItalic r:id="rId20"/>
    </p:embeddedFont>
  </p:embeddedFontLst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70414522" val="1228" revOS="4"/>
      <pr:smFileRevision xmlns:pr="smNativeData" xmlns="smNativeData" dt="1770414522" val="101"/>
      <pr:guideOptions xmlns:pr="smNativeData" xmlns="smNativeData" dt="1770414522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 snapToObjects="1">
      <p:cViewPr varScale="1">
        <p:scale>
          <a:sx n="58" d="100"/>
          <a:sy n="58" d="100"/>
        </p:scale>
        <p:origin x="460" y="419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3" d="100"/>
        <a:sy n="13" d="100"/>
      </p:scale>
      <p:origin x="0" y="0"/>
    </p:cViewPr>
  </p:sorterViewPr>
  <p:notesViewPr>
    <p:cSldViewPr snapToGrid="0" snapToObjects="1">
      <p:cViewPr>
        <p:scale>
          <a:sx n="58" d="100"/>
          <a:sy n="58" d="100"/>
        </p:scale>
        <p:origin x="460" y="419"/>
      </p:cViewPr>
    </p:cSldViewPr>
  </p:notesViewPr>
  <p:gridSpacing cx="78028800" cy="7802880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IAY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AAAAABIEgAA0wIAABAAAAAmAAAACAAAAD+PAAAAAAAA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RodW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AAAAAAuKgAA0wIAABAAAAAmAAAACAAAAD+PAAAAAAAA"/>
              </a:ext>
            </a:extLst>
          </p:cNvSpPr>
          <p:nvPr>
            <p:ph type="dt" idx="10"/>
          </p:nvPr>
        </p:nvSpPr>
        <p:spPr>
          <a:xfrm>
            <a:off x="388493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9E3F32D8-9673-6AC4-3D87-60917CC9CB35}" type="datetime1">
              <a:t>7/23/19</a:t>
            </a:fld>
          </a:p>
        </p:txBody>
      </p:sp>
      <p:sp>
        <p:nvSpPr>
          <p:cNvPr id="4" name="Slide Image Placeholder 3"/>
          <p:cNvSpPr>
            <a:spLocks noGrp="1" noChangeArrowheads="1"/>
            <a:extLst>
              <a:ext uri="smNativeData">
                <pr:smNativeData xmlns:pr="smNativeData" xmlns="smNativeData" val="SMDATA_15_umGG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L8PAAD/HwAA"/>
              </a:ext>
            </a:extLst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/>
            <a:endParaRPr lang="en-us" cap="none"/>
          </a:p>
        </p:txBody>
      </p:sp>
      <p:sp>
        <p:nvSpPr>
          <p:cNvPr id="5" name="Notes Placeholder 4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D8PAAD/HwAA"/>
              </a:ext>
            </a:extLst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G41AABIEgAAQDgAABAAAAAmAAAACAAAAL+PAAD/HwAA"/>
              </a:ext>
            </a:extLst>
          </p:cNvSpPr>
          <p:nvPr>
            <p:ph type="ftr" sz="quarter" idx="11"/>
          </p:nvPr>
        </p:nvSpPr>
        <p:spPr>
          <a:xfrm>
            <a:off x="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L+PAAD/Hw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9E3F1660-2E73-6AE0-3D87-D8B558C9CB8D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notesStyle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themeOverride" Target="../theme/themeOverride1.xml"/></Relationships>
</file>

<file path=ppt/notesSlides/_rels/notesSlide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themeOverride" Target="../theme/themeOverride2.xml"/></Relationships>
</file>

<file path=ppt/notesSlides/_rels/notesSlide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themeOverride" Target="../theme/themeOverride3.xml"/></Relationships>
</file>

<file path=ppt/notesSlides/_rels/notesSlide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Relationship Id="rId3" Type="http://schemas.openxmlformats.org/officeDocument/2006/relationships/themeOverride" Target="../theme/themeOverride4.xml"/></Relationships>
</file>

<file path=ppt/notesSlides/_rels/notesSlide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Relationship Id="rId3" Type="http://schemas.openxmlformats.org/officeDocument/2006/relationships/themeOverride" Target="../theme/themeOverride5.xml"/></Relationships>
</file>

<file path=ppt/notesSlides/_rels/notesSlide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Relationship Id="rId3" Type="http://schemas.openxmlformats.org/officeDocument/2006/relationships/themeOverride" Target="../theme/themeOverride6.xml"/></Relationships>
</file>

<file path=ppt/notesSlides/_rels/notesSlide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Relationship Id="rId3" Type="http://schemas.openxmlformats.org/officeDocument/2006/relationships/themeOverride" Target="../theme/themeOverride7.xml"/></Relationships>
</file>

<file path=ppt/notesSlides/_rels/notesSlide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Relationship Id="rId3" Type="http://schemas.openxmlformats.org/officeDocument/2006/relationships/themeOverride" Target="../theme/themeOverride8.xml"/></Relationships>
</file>

<file path=ppt/notesSlides/_rels/notesSlide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Relationship Id="rId3" Type="http://schemas.openxmlformats.org/officeDocument/2006/relationships/themeOverride" Target="../theme/themeOverride9.xml"/></Relationships>
</file>

<file path=ppt/notesSlides/_rels/notesSlide1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Relationship Id="rId3" Type="http://schemas.openxmlformats.org/officeDocument/2006/relationships/themeOverride" Target="../theme/themeOverride10.xml"/></Relationships>
</file>

<file path=ppt/notesSlides/notesSlide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mGG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4kOw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gNxl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9E3F5BB9-F773-6AAD-3D87-01F815C9CB54}" type="slidenum">
              <a:t>1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mGG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9E3F0A8C-C273-6AFC-3D87-34A944C9CB61}" type="slidenum">
              <a:rPr lang="en-us" cap="none"/>
              <a:t>2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mGG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DAwP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9E3F4335-7B73-6AB5-3D87-8DE00DC9CBD8}" type="slidenum">
              <a:rPr lang="en-us" cap="none"/>
              <a:t>3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mGG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9E3F51C2-8C73-6AA7-3D87-7AF21FC9CB2F}" type="slidenum">
              <a:rPr lang="en-us" cap="none"/>
              <a:t>4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mGG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9E3F2D92-DC73-6ADB-3D87-2A8E63C9CB7F}" type="slidenum">
              <a:rPr lang="en-us" cap="none"/>
              <a:t>5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mGG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Y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9E3F3B1F-5173-6ACD-3D87-A79875C9CBF2}" type="slidenum">
              <a:rPr lang="en-us" cap="none"/>
              <a:t>6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mGG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f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9E3F1355-1B73-6AE5-3D87-EDB05DC9CBB8}" type="slidenum">
              <a:rPr lang="en-us" cap="none"/>
              <a:t>7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mGG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9E3F2EA6-E873-6AD8-3D87-1E8D60C9CB4B}" type="slidenum">
              <a:rPr lang="en-us" cap="none"/>
              <a:t>8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mGG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JY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YO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iG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9E3F4714-5A73-6AB1-3D87-ACE409C9CBF9}" type="slidenum">
              <a:rPr lang="en-us" cap="none"/>
              <a:t>9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umGG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yi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m+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mGG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DU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9E3F6635-7B73-6A90-3D87-8DC528C9CBD8}" type="slidenum">
              <a:rPr lang="en-us" cap="none"/>
              <a:t>10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GBcZ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BcZ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>
            <a:noFill/>
          </a:ln>
          <a:effectLst/>
        </p:spPr>
      </p:sp>
      <p:sp>
        <p:nvSpPr>
          <p:cNvPr id="3" name="Shape 1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JCQ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CQp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>
            <a:noFill/>
          </a:ln>
          <a:effectLst/>
        </p:spPr>
      </p:sp>
      <p:pic>
        <p:nvPicPr>
          <p:cNvPr id="4" name="Image 0" descr="preencoded.png">
            <a:hlinkClick r:id="rId2"/>
          </p:cNvPr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tOAACsLwAAlFkAADQy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2839065" y="7749540"/>
            <a:ext cx="1722755" cy="4114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GBcZ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BcZ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>
            <a:noFill/>
          </a:ln>
          <a:effectLst/>
        </p:spPr>
      </p:sp>
      <p:sp>
        <p:nvSpPr>
          <p:cNvPr id="3" name="Shape 1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JCQ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CQp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>
            <a:noFill/>
          </a:ln>
          <a:effectLst/>
        </p:spPr>
      </p:sp>
      <p:pic>
        <p:nvPicPr>
          <p:cNvPr id="4" name="Image 0" descr="preencoded.png">
            <a:hlinkClick r:id="rId2"/>
          </p:cNvPr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tOAACsLwAAlFkAADQy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2839065" y="7749540"/>
            <a:ext cx="1722755" cy="4114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GBcZ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BcZ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>
            <a:noFill/>
          </a:ln>
          <a:effectLst/>
        </p:spPr>
      </p:sp>
      <p:sp>
        <p:nvSpPr>
          <p:cNvPr id="3" name="Shape 1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JCQ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CQp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>
            <a:noFill/>
          </a:ln>
          <a:effectLst/>
        </p:spPr>
      </p:sp>
      <p:pic>
        <p:nvPicPr>
          <p:cNvPr id="4" name="Image 0" descr="preencoded.png">
            <a:hlinkClick r:id="rId2"/>
          </p:cNvPr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kOIIN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tOAACsLwAAlFkAADQy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2839065" y="7749540"/>
            <a:ext cx="1722755" cy="4114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GBcZ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0yxH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BcZ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>
            <a:noFill/>
          </a:ln>
          <a:effectLst/>
        </p:spPr>
      </p:sp>
      <p:sp>
        <p:nvSpPr>
          <p:cNvPr id="3" name="Shape 1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JCQ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CQp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>
            <a:noFill/>
          </a:ln>
          <a:effectLst/>
        </p:spPr>
      </p:sp>
      <p:pic>
        <p:nvPicPr>
          <p:cNvPr id="4" name="Image 0" descr="preencoded.png">
            <a:hlinkClick r:id="rId2"/>
          </p:cNvPr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tOAACsLwAAlFkAADQy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2839065" y="7749540"/>
            <a:ext cx="1722755" cy="4114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GBcZ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BcZ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>
            <a:noFill/>
          </a:ln>
          <a:effectLst/>
        </p:spPr>
      </p:sp>
      <p:sp>
        <p:nvSpPr>
          <p:cNvPr id="3" name="Shape 1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JCQ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CQp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>
            <a:noFill/>
          </a:ln>
          <a:effectLst/>
        </p:spPr>
      </p:sp>
      <p:pic>
        <p:nvPicPr>
          <p:cNvPr id="4" name="Image 0" descr="preencoded.png">
            <a:hlinkClick r:id="rId2"/>
          </p:cNvPr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tOAACsLwAAlFkAADQy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2839065" y="7749540"/>
            <a:ext cx="1722755" cy="4114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GBcZ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BcZ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>
            <a:noFill/>
          </a:ln>
          <a:effectLst/>
        </p:spPr>
      </p:sp>
      <p:sp>
        <p:nvSpPr>
          <p:cNvPr id="3" name="Shape 1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JCQ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CQp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>
            <a:noFill/>
          </a:ln>
          <a:effectLst/>
        </p:spPr>
      </p:sp>
      <p:pic>
        <p:nvPicPr>
          <p:cNvPr id="4" name="Image 0" descr="preencoded.png">
            <a:hlinkClick r:id="rId2"/>
          </p:cNvPr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tOAACsLwAAlFkAADQy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2839065" y="7749540"/>
            <a:ext cx="1722755" cy="4114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GBcZ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0yxH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BcZ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>
            <a:noFill/>
          </a:ln>
          <a:effectLst/>
        </p:spPr>
      </p:sp>
      <p:sp>
        <p:nvSpPr>
          <p:cNvPr id="3" name="Shape 1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JCQ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CQp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>
            <a:noFill/>
          </a:ln>
          <a:effectLst/>
        </p:spPr>
      </p:sp>
      <p:pic>
        <p:nvPicPr>
          <p:cNvPr id="4" name="Image 0" descr="preencoded.png">
            <a:hlinkClick r:id="rId2"/>
          </p:cNvPr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tOAACsLwAAlFkAADQy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2839065" y="7749540"/>
            <a:ext cx="1722755" cy="4114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GBcZ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BcZ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>
            <a:noFill/>
          </a:ln>
          <a:effectLst/>
        </p:spPr>
      </p:sp>
      <p:sp>
        <p:nvSpPr>
          <p:cNvPr id="3" name="Shape 1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JCQ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s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CQp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>
            <a:noFill/>
          </a:ln>
          <a:effectLst/>
        </p:spPr>
      </p:sp>
      <p:pic>
        <p:nvPicPr>
          <p:cNvPr id="4" name="Image 0" descr="preencoded.png">
            <a:hlinkClick r:id="rId2"/>
          </p:cNvPr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tOAACsLwAAlFkAADQy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2839065" y="7749540"/>
            <a:ext cx="1722755" cy="4114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GBcZ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BcZ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>
            <a:noFill/>
          </a:ln>
          <a:effectLst/>
        </p:spPr>
      </p:sp>
      <p:sp>
        <p:nvSpPr>
          <p:cNvPr id="3" name="Shape 1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JCQ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CQp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>
            <a:noFill/>
          </a:ln>
          <a:effectLst/>
        </p:spPr>
      </p:sp>
      <p:pic>
        <p:nvPicPr>
          <p:cNvPr id="4" name="Image 0" descr="preencoded.png">
            <a:hlinkClick r:id="rId2"/>
          </p:cNvPr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tOAACsLwAAlFkAADQy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2839065" y="7749540"/>
            <a:ext cx="1722755" cy="4114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GBcZ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BcZ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>
            <a:noFill/>
          </a:ln>
          <a:effectLst/>
        </p:spPr>
      </p:sp>
      <p:sp>
        <p:nvSpPr>
          <p:cNvPr id="3" name="Shape 1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JCQ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CQpAP///wEAAAAAAAAAAAAAAAAAAAAAAAAAAAAAAAAAAAAAAAAAAAAAAAB/f38A5+bmA8zMzADAwP8Af39/AAAAAAAAAAAAAAAAAAAAAAAAAAAAIQAAABgAAAAUAAAAAAAAAAAAAAAAWgAAoDIAABAAAAAmAAAACAAAAP//////////"/>
              </a:ext>
            </a:extLst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>
            <a:noFill/>
          </a:ln>
          <a:effectLst/>
        </p:spPr>
      </p:sp>
      <p:pic>
        <p:nvPicPr>
          <p:cNvPr id="4" name="Image 0" descr="preencoded.png">
            <a:hlinkClick r:id="rId2"/>
          </p:cNvPr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tOAACsLwAAlFkAADQy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2839065" y="7749540"/>
            <a:ext cx="1722755" cy="4114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1"/>
          </a:solidFill>
          <a:effectLst/>
          <a:latin typeface="Calibri Light" pitchFamily="2" charset="0"/>
          <a:ea typeface="Calibri Light" pitchFamily="2" charset="0"/>
          <a:cs typeface="Calibri Light" pitchFamily="2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6.svg"/><Relationship Id="rId7" Type="http://schemas.openxmlformats.org/officeDocument/2006/relationships/image" Target="../media/image7.sv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sv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4.svg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AAAAAAAAAAAwCEAAKAy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 0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iYAAI8QAAAeVQAARxkAAAAAAAAmAAAACAAAAP//////////"/>
              </a:ext>
            </a:extLst>
          </p:cNvSpPr>
          <p:nvPr/>
        </p:nvSpPr>
        <p:spPr>
          <a:xfrm>
            <a:off x="6280150" y="2691765"/>
            <a:ext cx="7556500" cy="1417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cap="none">
                <a:solidFill>
                  <a:srgbClr val="EFD5FA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Airbnb Europe Data Visulation Project</a:t>
            </a:r>
            <a:endParaRPr lang="en-us" sz="4450" cap="none">
              <a:solidFill>
                <a:srgbClr val="EFD5FA"/>
              </a:solidFill>
              <a:latin typeface="Instrument Sans Medium" pitchFamily="0" charset="0"/>
              <a:ea typeface="Instrument Sans Medium" pitchFamily="0" charset="0"/>
              <a:cs typeface="Instrument Sans Medium" pitchFamily="0" charset="0"/>
            </a:endParaRPr>
          </a:p>
        </p:txBody>
      </p:sp>
      <p:sp>
        <p:nvSpPr>
          <p:cNvPr id="4" name="Text 1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No+i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iYAAF8bAAAeVQAAESIAAAAAAAAmAAAACAAAAP//////////"/>
              </a:ext>
            </a:extLst>
          </p:cNvSpPr>
          <p:nvPr/>
        </p:nvSpPr>
        <p:spPr>
          <a:xfrm>
            <a:off x="6280150" y="4449445"/>
            <a:ext cx="7556500" cy="10883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An interactive data visualization project exploring European Airbnb listings through dynamic charts, pricing insights, and market trends across major cities.</a:t>
            </a:r>
            <a:r>
              <a:rPr lang="en-us" cap="none"/>
              <a:t> </a:t>
            </a:r>
            <a:endParaRPr lang="en-us" cap="none"/>
          </a:p>
          <a:p>
            <a:pPr marL="0" indent="0" algn="l">
              <a:lnSpc>
                <a:spcPts val="2850"/>
              </a:lnSpc>
              <a:buNone/>
              <a:defRPr cap="none">
                <a:solidFill>
                  <a:schemeClr val="bg1"/>
                </a:solidFill>
              </a:defRPr>
            </a:pPr>
            <a:r>
              <a:rPr lang="en-us" cap="none"/>
              <a:t>Presented By : Rachana Patil matrculation no (48596983)</a:t>
            </a:r>
            <a:endParaRPr lang="en-us" cap="none"/>
          </a:p>
        </p:txBody>
      </p:sp>
      <p:sp>
        <p:nvSpPr>
          <p:cNvPr id="5" name="Rectangle1"/>
          <p:cNvSpPr>
            <a:extLst>
              <a:ext uri="smNativeData">
                <pr:smNativeData xmlns:pr="smNativeData" xmlns="smNativeData" val="SMDATA_15_umGGaRMAAAAlAAAAZAAAAA8BAAAAkAAAAEgAAACQAAAASAAAAAAAAAAAAAAAAAAAAAEAAABQAAAAAAAAAAAA4D8AAAAAAADgPwAAAAAAAOA/AAAAAAAA4D8AAAAAAADgPwAAAAAAAOA/AAAAAAAA4D8AAAAAAADgPwAAAAAAAOA/AAAAAAAA4D8CAAAAjAAAAAEAAAAAAAAAAAAACf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AAAAAAAAAAA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Av///wEAAAAAAAAAAAAAAAAAAAAAAAAAAAAAAAAAAAAAAAAAAAAAAAJ/f38A5+bmA8zMzADAwP8Af39/AAAAAAAAAAAAAAAAAAAAAAAAAAAAIQAAABgAAAAUAAAAMU4AAEgvAAAAWgAAoDIAAAAAAAAmAAAACAAAAP//////////"/>
              </a:ext>
            </a:extLst>
          </p:cNvSpPr>
          <p:nvPr/>
        </p:nvSpPr>
        <p:spPr>
          <a:xfrm>
            <a:off x="12710795" y="7686040"/>
            <a:ext cx="1919605" cy="543560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umGGaRMAAAAlAAAAZQAAAA0AAAAAkAAAAEgAAACQAAAASAAAAAAAAAAAAAAAAAAAAAEAAABQAAAAfsaFAyFZwD8AAAAAAADwvwAAAAAAAOA/AAAAAAAA4D8AAAAAAADgPwAAAAAAAOA/AAAAAAAA4D8AAAAAAADgPwAAAAAAAOA/AAAAAAAA4D8CAAAAjAAAAAEAAAAAAAAASgMD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SgMDAP///wEAAAAAAAAAAAAAAAAAAAAAAAAAAAAAAAAAAAAAAAAAAAAAAAB/f38A5+bmA8zMzADAwP8Af39/AAAAAAAAAAAAAAAAAAAAAAAAAAAAIQAAABgAAAAUAAAA4gQAAJIMAADKEQAAMQ8AABAAAAAmAAAACAAAAP//////////"/>
              </a:ext>
            </a:extLst>
          </p:cNvSpPr>
          <p:nvPr/>
        </p:nvSpPr>
        <p:spPr>
          <a:xfrm>
            <a:off x="793750" y="2043430"/>
            <a:ext cx="2098040" cy="426085"/>
          </a:xfrm>
          <a:prstGeom prst="roundRect">
            <a:avLst>
              <a:gd name="adj" fmla="val 6386"/>
            </a:avLst>
          </a:prstGeom>
          <a:solidFill>
            <a:srgbClr val="4A0303"/>
          </a:solidFill>
          <a:ln>
            <a:noFill/>
          </a:ln>
          <a:effectLst/>
        </p:spPr>
      </p:sp>
      <p:sp>
        <p:nvSpPr>
          <p:cNvPr id="3" name="Text 1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UAAP0MAAD0EAAAxg4AABAgAAAmAAAACAAAAP//////////"/>
              </a:ext>
            </a:extLst>
          </p:cNvSpPr>
          <p:nvPr/>
        </p:nvSpPr>
        <p:spPr>
          <a:xfrm>
            <a:off x="929640" y="2111375"/>
            <a:ext cx="1826260" cy="2901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PROJECT OVERVIEW</a:t>
            </a:r>
            <a:endParaRPr lang="en-us" sz="14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gQAAMAPAACaMQAAHBQAABAgAAAmAAAACAAAAP//////////"/>
              </a:ext>
            </a:extLst>
          </p:cNvSpPr>
          <p:nvPr/>
        </p:nvSpPr>
        <p:spPr>
          <a:xfrm>
            <a:off x="793750" y="2560320"/>
            <a:ext cx="7269480" cy="7086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cap="none">
                <a:solidFill>
                  <a:srgbClr val="EFD5FA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Building Interactive Insights</a:t>
            </a:r>
            <a:endParaRPr lang="en-us" sz="4450" cap="none"/>
          </a:p>
        </p:txBody>
      </p:sp>
      <p:sp>
        <p:nvSpPr>
          <p:cNvPr id="5" name="Shape 3"/>
          <p:cNvSpPr>
            <a:extLst>
              <a:ext uri="smNativeData">
                <pr:smNativeData xmlns:pr="smNativeData" xmlns="smNativeData" val="SMDATA_15_umGGaRMAAAAlAAAAZQAAAA0AAAAAkAAAAEgAAACQAAAASAAAAAAAAAAAAAAAAAAAAAEAAABQAAAARiV1ApoImz8AAAAAAADwvwAAAAAAAOA/AAAAAAAA4D8AAAAAAADgPwAAAAAAAOA/AAAAAAAA4D8AAAAAAADgPwAAAAAAAOA/AAAAAAAA4D8CAAAAjAAAAAEAAAAAAAAA/cTE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cTEAP///wEAAAAAAAAAAAAAAAAAAAAAAAAAAAAAAAAAAAAAAAAAAAAAAAB/f38A5+bmA8zMzADAwP8Af39/AAAAAAAAAAAAAAAAAAAAAAAAAAAAIQAAABgAAAAUAAAA4QMAADQWAABOLAAADiYAABAAAAAmAAAACAAAAP//////////"/>
              </a:ext>
            </a:extLst>
          </p:cNvSpPr>
          <p:nvPr/>
        </p:nvSpPr>
        <p:spPr>
          <a:xfrm>
            <a:off x="630555" y="3609340"/>
            <a:ext cx="6571615" cy="2576830"/>
          </a:xfrm>
          <a:prstGeom prst="roundRect">
            <a:avLst>
              <a:gd name="adj" fmla="val 1320"/>
            </a:avLst>
          </a:prstGeom>
          <a:solidFill>
            <a:srgbClr val="FDC4C4"/>
          </a:solidFill>
          <a:ln>
            <a:noFill/>
          </a:ln>
          <a:effectLst/>
        </p:spPr>
      </p:sp>
      <p:sp>
        <p:nvSpPr>
          <p:cNvPr id="6" name="Text 4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RgUAAJkXAAC3FgAAxxkAABAgAAAmAAAACAAAAP//////////"/>
              </a:ext>
            </a:extLst>
          </p:cNvSpPr>
          <p:nvPr/>
        </p:nvSpPr>
        <p:spPr>
          <a:xfrm>
            <a:off x="857250" y="3836035"/>
            <a:ext cx="2835275" cy="3543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cap="none">
                <a:solidFill>
                  <a:srgbClr val="000000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Our Mission</a:t>
            </a:r>
            <a:endParaRPr lang="en-us" sz="220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RgUAACwbAADoKgAAGiQAABAAAAAmAAAACAAAAP//////////"/>
              </a:ext>
            </a:extLst>
          </p:cNvSpPr>
          <p:nvPr/>
        </p:nvSpPr>
        <p:spPr>
          <a:xfrm>
            <a:off x="857250" y="4417060"/>
            <a:ext cx="6117590" cy="14516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cap="none">
                <a:solidFill>
                  <a:srgbClr val="000000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Transform raw Airbnb data into actionable insights through an interactive dashboard that reveals pricing patterns, market dynamics, and guest preferences across European cities.</a:t>
            </a:r>
            <a:endParaRPr lang="en-us" cap="none"/>
          </a:p>
        </p:txBody>
      </p:sp>
      <p:sp>
        <p:nvSpPr>
          <p:cNvPr id="8" name="Text 6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C4AAJkXAAAxQAAAxxkAABAgAAAmAAAACAAAAP//////////"/>
              </a:ext>
            </a:extLst>
          </p:cNvSpPr>
          <p:nvPr/>
        </p:nvSpPr>
        <p:spPr>
          <a:xfrm>
            <a:off x="7599680" y="3836035"/>
            <a:ext cx="2835275" cy="3543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cap="none">
                <a:solidFill>
                  <a:srgbClr val="EFD5FA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Key Objectives</a:t>
            </a:r>
            <a:endParaRPr lang="en-us" sz="2200" cap="none"/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C4AACwbAAAqVQAAGyQAABAAAAAmAAAACAAAAP//////////"/>
              </a:ext>
            </a:extLst>
          </p:cNvSpPr>
          <p:nvPr/>
        </p:nvSpPr>
        <p:spPr>
          <a:xfrm>
            <a:off x="7599680" y="4417060"/>
            <a:ext cx="6244590" cy="14522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342900" indent="-342900" algn="l">
              <a:lnSpc>
                <a:spcPts val="2850"/>
              </a:lnSpc>
              <a:buSzTx/>
              <a:buChar char="•"/>
            </a:pPr>
            <a:r>
              <a:rPr lang="en-us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Visualize pricing distribution and trends</a:t>
            </a:r>
            <a:endParaRPr lang="en-us" cap="none"/>
          </a:p>
          <a:p>
            <a:pPr marL="342900" indent="-342900" algn="l">
              <a:lnSpc>
                <a:spcPts val="2850"/>
              </a:lnSpc>
              <a:buSzTx/>
              <a:buChar char="•"/>
            </a:pPr>
            <a:r>
              <a:rPr lang="en-us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Analyze room availability and accommodation types</a:t>
            </a:r>
            <a:endParaRPr lang="en-us" cap="none"/>
          </a:p>
          <a:p>
            <a:pPr marL="342900" indent="-342900" algn="l">
              <a:lnSpc>
                <a:spcPts val="2850"/>
              </a:lnSpc>
              <a:buSzTx/>
              <a:buChar char="•"/>
            </a:pPr>
            <a:r>
              <a:rPr lang="en-us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Map guest satisfaction metrics</a:t>
            </a:r>
            <a:endParaRPr lang="en-us" cap="none"/>
          </a:p>
          <a:p>
            <a:pPr marL="342900" indent="-342900" algn="l">
              <a:lnSpc>
                <a:spcPts val="2850"/>
              </a:lnSpc>
              <a:buSzTx/>
              <a:buChar char="•"/>
            </a:pPr>
            <a:r>
              <a:rPr lang="en-us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Compare city-level market characteristics</a:t>
            </a:r>
            <a:endParaRPr lang="en-us" cap="none"/>
          </a:p>
        </p:txBody>
      </p:sp>
      <p:sp>
        <p:nvSpPr>
          <p:cNvPr id="10" name="Rectangle1"/>
          <p:cNvSpPr>
            <a:extLst>
              <a:ext uri="smNativeData">
                <pr:smNativeData xmlns:pr="smNativeData" xmlns="smNativeData" val="SMDATA_15_umGGaRMAAAAlAAAAZAAAAA8BAAAAkAAAAEgAAACQAAAASAAAAAAAAAAAAAAAAAAAAAEAAABQAAAAAAAAAAAA4D8AAAAAAADgPwAAAAAAAOA/AAAAAAAA4D8AAAAAAADgPwAAAAAAAOA/AAAAAAAA4D8AAAAAAADgPwAAAAAAAOA/AAAAAAAA4D8CAAAAjAAAAAEAAAAAAAAAAAAACf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Av///wEAAAAAAAAAAAAAAAAAAAAAAAAAAAAAAAAAAAAAAAAAAAAAAAJ/f38A5+bmA8zMzADAwP8Af39/AAAAAAAAAAAAAAAAAAAAAAAAAAAAIQAAABgAAAAUAAAAoU0AABQuAAAAWgAAoDIAAAAAAAAmAAAACAAAAP//////////"/>
              </a:ext>
            </a:extLst>
          </p:cNvSpPr>
          <p:nvPr/>
        </p:nvSpPr>
        <p:spPr>
          <a:xfrm>
            <a:off x="12619355" y="7490460"/>
            <a:ext cx="2011045" cy="739140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r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AAAAAAAAAAAwCEAAKAy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 0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JyYAACAGAACaRQAADgoAABAgAAAmAAAACAAAAP//////////"/>
              </a:ext>
            </a:extLst>
          </p:cNvSpPr>
          <p:nvPr/>
        </p:nvSpPr>
        <p:spPr>
          <a:xfrm>
            <a:off x="6202045" y="995680"/>
            <a:ext cx="5112385" cy="6388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cap="none">
                <a:solidFill>
                  <a:srgbClr val="EFD5FA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Technology Stack</a:t>
            </a:r>
            <a:endParaRPr lang="en-us" sz="4000" cap="none"/>
          </a:p>
        </p:txBody>
      </p:sp>
      <p:sp>
        <p:nvSpPr>
          <p:cNvPr id="4" name="Shape 1"/>
          <p:cNvSpPr>
            <a:extLst>
              <a:ext uri="smNativeData">
                <pr:smNativeData xmlns:pr="smNativeData" xmlns="smNativeData" val="SMDATA_15_umGGaRMAAAAlAAAAZQAAAA0AAAAAkAAAAEgAAACQAAAASAAAAAAAAAAAAAAAAAAAAAEAAABQAAAA5IOezarPlT8AAAAAAADwvwAAAAAAAOA/AAAAAAAA4D8AAAAAAADgPwAAAAAAAOA/AAAAAAAA4D8AAAAAAADgPwAAAAAAAOA/AAAAAAAA4D8CAAAAjAAAAAEAAAAAAAAAQ0NI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0NIAP///wEAAAAAAAAAAAAAAAAAAAAAAAAAAAAAAAAAAAAAAAAAAAAAAAB/f38A5+bmA8zMzADAwP8Af39/AAAAAAAAAAAAAAAAAAAAAAAAAAAAIQAAABgAAAAUAAAAJyYAAMILAABPPQAAeR0AABAAAAAmAAAACAAAAP//////////"/>
              </a:ext>
            </a:extLst>
          </p:cNvSpPr>
          <p:nvPr/>
        </p:nvSpPr>
        <p:spPr>
          <a:xfrm>
            <a:off x="6202045" y="1911350"/>
            <a:ext cx="3764280" cy="2879725"/>
          </a:xfrm>
          <a:prstGeom prst="roundRect">
            <a:avLst>
              <a:gd name="adj" fmla="val 1065"/>
            </a:avLst>
          </a:prstGeom>
          <a:solidFill>
            <a:srgbClr val="434348"/>
          </a:solidFill>
          <a:ln>
            <a:noFill/>
          </a:ln>
          <a:effectLst/>
        </p:spPr>
      </p:sp>
      <p:sp>
        <p:nvSpPr>
          <p:cNvPr id="5" name="Shape 2"/>
          <p:cNvSpPr>
            <a:extLst>
              <a:ext uri="smNativeData">
                <pr:smNativeData xmlns:pr="smNativeData" xmlns="smNativeData" val="SMDATA_15_umGGaRMAAAAlAAAAZQAAAA0AAAAAkAAAAEgAAACQAAAASAAAAAAAAAAAAAAAAAAAAAEAAABQAAAAeR7cnbWhckAAAAAAAADwvwAAAAAAAOA/AAAAAAAA4D8AAAAAAADgPwAAAAAAAOA/AAAAAAAA4D8AAAAAAADgPwAAAAAAAOA/AAAAAAAA4D8CAAAAjAAAAAEAAAAAAAAA/cTE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cTEAP///wEAAAAAAAAAAAAAAAAAAAAAAAAAAAAAAAAAAAAAAAAAAAAAAAB/f38A5+bmA8zMzADAwP8Af39/AAAAAAAAAAAAAAAAAAAAAAAAAAAAIQAAABgAAAAUAAAAaScAAAQNAAAvKwAAyhAAABAAAAAmAAAACAAAAP//////////"/>
              </a:ext>
            </a:extLst>
          </p:cNvSpPr>
          <p:nvPr/>
        </p:nvSpPr>
        <p:spPr>
          <a:xfrm>
            <a:off x="6406515" y="2115820"/>
            <a:ext cx="613410" cy="613410"/>
          </a:xfrm>
          <a:prstGeom prst="roundRect">
            <a:avLst>
              <a:gd name="adj" fmla="val 14905342"/>
            </a:avLst>
          </a:prstGeom>
          <a:solidFill>
            <a:srgbClr val="FDC4C4"/>
          </a:solidFill>
          <a:ln>
            <a:noFill/>
          </a:ln>
          <a:effectLst/>
        </p:spPr>
      </p:sp>
      <p:pic>
        <p:nvPicPr>
          <p:cNvPr id="6" name="Image 1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NHQE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HMoAAANDgAAJSoAAMAPAAAQAAAAJgAAAAgAAAD//////////w==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5425" y="2284095"/>
            <a:ext cx="275590" cy="27622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 3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ScAAOwRAAAiNwAA4xMAABAgAAAmAAAACAAAAP//////////"/>
              </a:ext>
            </a:extLst>
          </p:cNvSpPr>
          <p:nvPr/>
        </p:nvSpPr>
        <p:spPr>
          <a:xfrm>
            <a:off x="6406515" y="2913380"/>
            <a:ext cx="2555875" cy="3194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Streamlit</a:t>
            </a:r>
            <a:endParaRPr lang="en-us" sz="2000" cap="none"/>
          </a:p>
        </p:txBody>
      </p:sp>
      <p:sp>
        <p:nvSpPr>
          <p:cNvPr id="8" name="Text 4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ScAAJEUAAANPAAANxwAABAAAAAmAAAACAAAAP//////////"/>
              </a:ext>
            </a:extLst>
          </p:cNvSpPr>
          <p:nvPr/>
        </p:nvSpPr>
        <p:spPr>
          <a:xfrm>
            <a:off x="6406515" y="3343275"/>
            <a:ext cx="3355340" cy="12433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Fast, interactive web app framework for data visualization with real-time user controls and seamless deployment.</a:t>
            </a:r>
            <a:endParaRPr lang="en-us" sz="1600" cap="none"/>
          </a:p>
        </p:txBody>
      </p:sp>
      <p:sp>
        <p:nvSpPr>
          <p:cNvPr id="9" name="Shape 5"/>
          <p:cNvSpPr>
            <a:extLst>
              <a:ext uri="smNativeData">
                <pr:smNativeData xmlns:pr="smNativeData" xmlns="smNativeData" val="SMDATA_15_umGGaRMAAAAlAAAAZQAAAA0AAAAAkAAAAEgAAACQAAAASAAAAAAAAAAAAAAAAAAAAAEAAABQAAAA5IOezarPlT8AAAAAAADwvwAAAAAAAOA/AAAAAAAA4D8AAAAAAADgPwAAAAAAAOA/AAAAAAAA4D8AAAAAAADgPwAAAAAAAOA/AAAAAAAA4D8CAAAAjAAAAAEAAAAAAAAAQ0NI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0NIAP///wEAAAAAAAAAAAAAAAAAAAAAAAAAAAAAAAAAAAAAAAAAAAAAAAB/f38A5+bmA8zMzADAwP8Af39/AAAAAAAAAAAAAAAAAAAAAAAAAAAAIQAAABgAAAAUAAAAcT4AAMILAACZVQAAeR0AABAAAAAmAAAACAAAAP//////////"/>
              </a:ext>
            </a:extLst>
          </p:cNvSpPr>
          <p:nvPr/>
        </p:nvSpPr>
        <p:spPr>
          <a:xfrm>
            <a:off x="10150475" y="1911350"/>
            <a:ext cx="3764280" cy="2879725"/>
          </a:xfrm>
          <a:prstGeom prst="roundRect">
            <a:avLst>
              <a:gd name="adj" fmla="val 1065"/>
            </a:avLst>
          </a:prstGeom>
          <a:solidFill>
            <a:srgbClr val="434348"/>
          </a:solidFill>
          <a:ln>
            <a:noFill/>
          </a:ln>
          <a:effectLst/>
        </p:spPr>
      </p:sp>
      <p:sp>
        <p:nvSpPr>
          <p:cNvPr id="10" name="Shape 6"/>
          <p:cNvSpPr>
            <a:extLst>
              <a:ext uri="smNativeData">
                <pr:smNativeData xmlns:pr="smNativeData" xmlns="smNativeData" val="SMDATA_15_umGGaRMAAAAlAAAAZQAAAA0AAAAAkAAAAEgAAACQAAAASAAAAAAAAAAAAAAAAAAAAAEAAABQAAAAeR7cnbWhckAAAAAAAADwvwAAAAAAAOA/AAAAAAAA4D8AAAAAAADgPwAAAAAAAOA/AAAAAAAA4D8AAAAAAADgPwAAAAAAAOA/AAAAAAAA4D8CAAAAjAAAAAEAAAAAAAAA/cTE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cTEAP///wEAAAAAAAAAAAAAAAAAAAAAAAAAAAAAAAAAAAAAAAAAAAAAAAB/f38A5+bmA8zMzADAwP8Af39/AAAAAAAAAAAAAAAAAAAAAAAAAAAAIQAAABgAAAAUAAAAsz8AAAQNAAB5QwAAyhAAABAAAAAmAAAACAAAAP//////////"/>
              </a:ext>
            </a:extLst>
          </p:cNvSpPr>
          <p:nvPr/>
        </p:nvSpPr>
        <p:spPr>
          <a:xfrm>
            <a:off x="10354945" y="2115820"/>
            <a:ext cx="613410" cy="613410"/>
          </a:xfrm>
          <a:prstGeom prst="roundRect">
            <a:avLst>
              <a:gd name="adj" fmla="val 14905342"/>
            </a:avLst>
          </a:prstGeom>
          <a:solidFill>
            <a:srgbClr val="FDC4C4"/>
          </a:solidFill>
          <a:ln>
            <a:noFill/>
          </a:ln>
          <a:effectLst/>
        </p:spPr>
      </p:sp>
      <p:pic>
        <p:nvPicPr>
          <p:cNvPr id="11" name="Image 2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L1AAAANDgAAb0IAAMAPAAAQAAAAJgAAAAgAAAD//////////w==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23855" y="2284095"/>
            <a:ext cx="275590" cy="27622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Text 7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z8AAOwRAABsTwAA4xMAABAgAAAmAAAACAAAAP//////////"/>
              </a:ext>
            </a:extLst>
          </p:cNvSpPr>
          <p:nvPr/>
        </p:nvSpPr>
        <p:spPr>
          <a:xfrm>
            <a:off x="10354945" y="2913380"/>
            <a:ext cx="2555875" cy="3194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Python &amp; Pandas</a:t>
            </a:r>
            <a:endParaRPr lang="en-us" sz="2000" cap="none"/>
          </a:p>
        </p:txBody>
      </p:sp>
      <p:sp>
        <p:nvSpPr>
          <p:cNvPr id="13" name="Text 8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z8AAJEUAABXVAAANxwAABAAAAAmAAAACAAAAP//////////"/>
              </a:ext>
            </a:extLst>
          </p:cNvSpPr>
          <p:nvPr/>
        </p:nvSpPr>
        <p:spPr>
          <a:xfrm>
            <a:off x="10354945" y="3343275"/>
            <a:ext cx="3355340" cy="12433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Powerful data manipulation and analysis capabilities for processing thousands of Airbnb listings efficiently.</a:t>
            </a:r>
            <a:endParaRPr lang="en-us" sz="1600" cap="none"/>
          </a:p>
        </p:txBody>
      </p:sp>
      <p:sp>
        <p:nvSpPr>
          <p:cNvPr id="14" name="Shape 9"/>
          <p:cNvSpPr>
            <a:extLst>
              <a:ext uri="smNativeData">
                <pr:smNativeData xmlns:pr="smNativeData" xmlns="smNativeData" val="SMDATA_15_umGGaRMAAAAlAAAAZQAAAA0AAAAAkAAAAEgAAACQAAAASAAAAAAAAAAAAAAAAAAAAAEAAABQAAAAq5UJv9TPmz8AAAAAAADwvwAAAAAAAOA/AAAAAAAA4D8AAAAAAADgPwAAAAAAAOA/AAAAAAAA4D8AAAAAAADgPwAAAAAAAOA/AAAAAAAA4D8CAAAAjAAAAAEAAAAAAAAAQ0NI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0NIAP///wEAAAAAAAAAAAAAAAAAAAAAAAAAAAAAAAAAAAAAAAAAAAAAAAB/f38A5+bmA8zMzADAwP8Af39/AAAAAAAAAAAAAAAAAAAAAAAAAAAAIQAAABgAAAAUAAAAJyYAAJseAACZVQAAgCwAABAAAAAmAAAACAAAAP//////////"/>
              </a:ext>
            </a:extLst>
          </p:cNvSpPr>
          <p:nvPr/>
        </p:nvSpPr>
        <p:spPr>
          <a:xfrm>
            <a:off x="6202045" y="4975225"/>
            <a:ext cx="7712710" cy="2258695"/>
          </a:xfrm>
          <a:prstGeom prst="roundRect">
            <a:avLst>
              <a:gd name="adj" fmla="val 1358"/>
            </a:avLst>
          </a:prstGeom>
          <a:solidFill>
            <a:srgbClr val="434348"/>
          </a:solidFill>
          <a:ln>
            <a:noFill/>
          </a:ln>
          <a:effectLst/>
        </p:spPr>
      </p:sp>
      <p:sp>
        <p:nvSpPr>
          <p:cNvPr id="15" name="Shape 10"/>
          <p:cNvSpPr>
            <a:extLst>
              <a:ext uri="smNativeData">
                <pr:smNativeData xmlns:pr="smNativeData" xmlns="smNativeData" val="SMDATA_15_umGGaRMAAAAlAAAAZQAAAA0AAAAAkAAAAEgAAACQAAAASAAAAAAAAAAAAAAAAAAAAAEAAABQAAAAeR7cnbWhckAAAAAAAADwvwAAAAAAAOA/AAAAAAAA4D8AAAAAAADgPwAAAAAAAOA/AAAAAAAA4D8AAAAAAADgPwAAAAAAAOA/AAAAAAAA4D8CAAAAjAAAAAEAAAAAAAAA/cTE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cTEAP///wEAAAAAAAAAAAAAAAAAAAAAAAAAAAAAAAAAAAAAAAAAAAAAAAB/f38A5+bmA8zMzADAwP8Af39/AAAAAAAAAAAAAAAAAAAAAAAAAAAAIQAAABgAAAAUAAAAaScAAN0fAAAvKwAAoyMAABAAAAAmAAAACAAAAP//////////"/>
              </a:ext>
            </a:extLst>
          </p:cNvSpPr>
          <p:nvPr/>
        </p:nvSpPr>
        <p:spPr>
          <a:xfrm>
            <a:off x="6406515" y="5179695"/>
            <a:ext cx="613410" cy="613410"/>
          </a:xfrm>
          <a:prstGeom prst="roundRect">
            <a:avLst>
              <a:gd name="adj" fmla="val 14905342"/>
            </a:avLst>
          </a:prstGeom>
          <a:solidFill>
            <a:srgbClr val="FDC4C4"/>
          </a:solidFill>
          <a:ln>
            <a:noFill/>
          </a:ln>
          <a:effectLst/>
        </p:spPr>
      </p:sp>
      <p:pic>
        <p:nvPicPr>
          <p:cNvPr id="16" name="Image 3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HMoAADnIAAAJSoAAJoiAAAQAAAAJgAAAAgAAAD//////////w==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75425" y="5348605"/>
            <a:ext cx="275590" cy="27622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Text 11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ScAAMYkAAAiNwAAvSYAABAgAAAmAAAACAAAAP//////////"/>
              </a:ext>
            </a:extLst>
          </p:cNvSpPr>
          <p:nvPr/>
        </p:nvSpPr>
        <p:spPr>
          <a:xfrm>
            <a:off x="6406515" y="5977890"/>
            <a:ext cx="2555875" cy="3194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Plotly</a:t>
            </a:r>
            <a:endParaRPr lang="en-us" sz="2000" cap="none"/>
          </a:p>
        </p:txBody>
      </p:sp>
      <p:sp>
        <p:nvSpPr>
          <p:cNvPr id="18" name="Text 12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ScAAGsnAABXVAAAPisAABAAAAAmAAAACAAAAP//////////"/>
              </a:ext>
            </a:extLst>
          </p:cNvSpPr>
          <p:nvPr/>
        </p:nvSpPr>
        <p:spPr>
          <a:xfrm>
            <a:off x="6406515" y="6407785"/>
            <a:ext cx="7303770" cy="6216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Advanced interactive charting library delivering responsive, publication-quality visualizations with hover details and zoom controls.</a:t>
            </a:r>
            <a:endParaRPr lang="en-us" sz="1600" cap="none"/>
          </a:p>
        </p:txBody>
      </p:sp>
      <p:sp>
        <p:nvSpPr>
          <p:cNvPr id="19" name="Rectangle1"/>
          <p:cNvSpPr>
            <a:extLst>
              <a:ext uri="smNativeData">
                <pr:smNativeData xmlns:pr="smNativeData" xmlns="smNativeData" val="SMDATA_15_umGGaRMAAAAlAAAAZAAAAA8BAAAAkAAAAEgAAACQAAAASAAAAAAAAAAAAAAAAAAAAAEAAABQAAAAAAAAAAAA4D8AAAAAAADgPwAAAAAAAOA/AAAAAAAA4D8AAAAAAADgPwAAAAAAAOA/AAAAAAAA4D8AAAAAAADgPwAAAAAAAOA/AAAAAAAA4D8CAAAAjAAAAAEAAAAAAAAAAAAACf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Av///wEAAAAAAAAAAAAAAAAAAAAAAAAAAAAAAAAAAAAAAAAAAAAAAAJ/f38A5+bmA8zMzADAwP8Af39/AAAAAAAAAAAAAAAAAAAAAAAAAAAAIQAAABgAAAAUAAAAUE8AAB8vAAAAWgAAoDIAAAAAAAAmAAAACAAAAP//////////"/>
              </a:ext>
            </a:extLst>
          </p:cNvSpPr>
          <p:nvPr/>
        </p:nvSpPr>
        <p:spPr>
          <a:xfrm>
            <a:off x="12893040" y="7660005"/>
            <a:ext cx="1737360" cy="569595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gQAADoEAADEJwAAlggAABAgAAAmAAAACAAAAP//////////"/>
              </a:ext>
            </a:extLst>
          </p:cNvSpPr>
          <p:nvPr/>
        </p:nvSpPr>
        <p:spPr>
          <a:xfrm>
            <a:off x="793750" y="687070"/>
            <a:ext cx="5670550" cy="7086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cap="none">
                <a:solidFill>
                  <a:srgbClr val="EFD5FA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Dataset Scope</a:t>
            </a:r>
            <a:endParaRPr lang="en-us" sz="4450" cap="none"/>
          </a:p>
        </p:txBody>
      </p:sp>
      <p:pic>
        <p:nvPicPr>
          <p:cNvPr id="3" name="Image 0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X19f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OIEAAAwEQAA2DcAAOQn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2794000"/>
            <a:ext cx="8284210" cy="36906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 1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zsAABMMAAAqVQAATxEAABAAAAAmAAAACAAAAP//////////"/>
              </a:ext>
            </a:extLst>
          </p:cNvSpPr>
          <p:nvPr/>
        </p:nvSpPr>
        <p:spPr>
          <a:xfrm>
            <a:off x="9638665" y="1962785"/>
            <a:ext cx="4205605" cy="850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cap="none">
                <a:solidFill>
                  <a:srgbClr val="EFD5FA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European Market Coverage</a:t>
            </a:r>
            <a:endParaRPr lang="en-us" sz="265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zsAALQSAAAqVQAAGSAAABAAAAAmAAAACAAAAP//////////"/>
              </a:ext>
            </a:extLst>
          </p:cNvSpPr>
          <p:nvPr/>
        </p:nvSpPr>
        <p:spPr>
          <a:xfrm>
            <a:off x="9638665" y="3040380"/>
            <a:ext cx="4205605" cy="21774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Our dataset encompasses comprehensive Airbnb listings across major European metropolitan areas, capturing diverse accommodation types from studio apartments to luxury villas.</a:t>
            </a:r>
            <a:endParaRPr lang="en-us" cap="none"/>
          </a:p>
        </p:txBody>
      </p:sp>
      <p:sp>
        <p:nvSpPr>
          <p:cNvPr id="6" name="Text 3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z0AAKshAAAqVQAA1CwAABAAAAAmAAAACAAAAP//////////"/>
              </a:ext>
            </a:extLst>
          </p:cNvSpPr>
          <p:nvPr/>
        </p:nvSpPr>
        <p:spPr>
          <a:xfrm>
            <a:off x="9979025" y="5473065"/>
            <a:ext cx="3865245" cy="18141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The data includes pricing, room configurations, guest ratings, and geographical distribution—providing a 360-degree view of the European short-term rental market.</a:t>
            </a:r>
            <a:endParaRPr lang="en-us" cap="none"/>
          </a:p>
        </p:txBody>
      </p:sp>
      <p:sp>
        <p:nvSpPr>
          <p:cNvPr id="7" name="Shape 4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/cTE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cTEAP///wEAAAAAAAAAAAAAAAAAAAAAAAAAAAAAAAAAAAAAAAAAAAAAAAB/f38A5+bmA8zMzADAwP8Af39/AAAAAAAAAAAAAAAAAAAAAAAAAAAAIQAAABgAAAAUAAAASzsAAKshAAB7OwAA1CwAABAAAAAmAAAACAAAAP//////////"/>
              </a:ext>
            </a:extLst>
          </p:cNvSpPr>
          <p:nvPr/>
        </p:nvSpPr>
        <p:spPr>
          <a:xfrm>
            <a:off x="9638665" y="5473065"/>
            <a:ext cx="30480" cy="1814195"/>
          </a:xfrm>
          <a:prstGeom prst="rect">
            <a:avLst/>
          </a:prstGeom>
          <a:solidFill>
            <a:srgbClr val="FDC4C4"/>
          </a:solidFill>
          <a:ln>
            <a:noFill/>
          </a:ln>
          <a:effectLst/>
        </p:spPr>
      </p:sp>
      <p:sp>
        <p:nvSpPr>
          <p:cNvPr id="8" name="Rectangle1"/>
          <p:cNvSpPr>
            <a:extLst>
              <a:ext uri="smNativeData">
                <pr:smNativeData xmlns:pr="smNativeData" xmlns="smNativeData" val="SMDATA_15_umGGaRMAAAAlAAAAZAAAAA8BAAAAkAAAAEgAAACQAAAASAAAAAAAAAAAAAAAAAAAAAEAAABQAAAAAAAAAAAA4D8AAAAAAADgPwAAAAAAAOA/AAAAAAAA4D8AAAAAAADgPwAAAAAAAOA/AAAAAAAA4D8AAAAAAADgPwAAAAAAAOA/AAAAAAAA4D8CAAAAjAAAAAEAAAAAAAAARFRqC/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AAAAAAAAAAA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FRqBP///wEAAAAAAAAAAAAAAAAAAAAAAAAAAAAAAAAAAAAAAAAAAAAAAAJ/f38A5+bmA8zMzADAwP8Af39/AAAAAAAAAAAAAAAAAAAAAAAAAAAAIQAAABgAAAAUAAAA1U4AAEgvAABEWQAAoDIAAAAAAAAmAAAACAAAAP//////////"/>
              </a:ext>
            </a:extLst>
          </p:cNvSpPr>
          <p:nvPr/>
        </p:nvSpPr>
        <p:spPr>
          <a:xfrm>
            <a:off x="12814935" y="7686040"/>
            <a:ext cx="1696085" cy="54356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umGGaRMAAAAlAAAAZQAAAA0AAAAAkAAAAEgAAACQAAAASAAAAAAAAAAAAAAAAAAAAAEAAABQAAAA48eYu5aQvz8AAAAAAADwv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P3ExAAM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P3ExAB/f38A5+bmA8zMzADAwP8Af39/AAAAAAAAAAAAAAAAAAAAAAAAAAAAIQAAABgAAAAUAAAA4gQAANQGAAAoEAAAiwkAABAAAAAmAAAACAAAAP//////////"/>
              </a:ext>
            </a:extLst>
          </p:cNvSpPr>
          <p:nvPr/>
        </p:nvSpPr>
        <p:spPr>
          <a:xfrm>
            <a:off x="793750" y="1109980"/>
            <a:ext cx="1832610" cy="441325"/>
          </a:xfrm>
          <a:prstGeom prst="roundRect">
            <a:avLst>
              <a:gd name="adj" fmla="val 6165"/>
            </a:avLst>
          </a:prstGeom>
          <a:noFill/>
          <a:ln w="7620" cap="flat" cmpd="sng" algn="ctr">
            <a:solidFill>
              <a:srgbClr val="FDC4C4"/>
            </a:solidFill>
            <a:prstDash val="solid"/>
            <a:headEnd type="none"/>
            <a:tailEnd type="none"/>
          </a:ln>
          <a:effectLst/>
        </p:spPr>
      </p:sp>
      <p:pic>
        <p:nvPicPr>
          <p:cNvPr id="3" name="Image 0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1Ii8+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MQFAAChBwAA4gYAAL8IAAAQAAAAJgAAAAgAAAD//////////w==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260" y="1240155"/>
            <a:ext cx="181610" cy="1816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 1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GNO0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QcAAEsHAABFDwAAFAkAABAgAAAmAAAACAAAAP//////////"/>
              </a:ext>
            </a:extLst>
          </p:cNvSpPr>
          <p:nvPr/>
        </p:nvSpPr>
        <p:spPr>
          <a:xfrm>
            <a:off x="1209675" y="1185545"/>
            <a:ext cx="1272540" cy="2901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cap="none">
                <a:solidFill>
                  <a:srgbClr val="FDC4C4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FOCUS AREAS</a:t>
            </a:r>
            <a:endParaRPr lang="en-us" sz="14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gQAABoKAADSKAAAdg4AABAgAAAmAAAACAAAAP//////////"/>
              </a:ext>
            </a:extLst>
          </p:cNvSpPr>
          <p:nvPr/>
        </p:nvSpPr>
        <p:spPr>
          <a:xfrm>
            <a:off x="793750" y="1642110"/>
            <a:ext cx="5842000" cy="7086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cap="none">
                <a:solidFill>
                  <a:srgbClr val="EFD5FA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Visualization Priorities</a:t>
            </a:r>
            <a:endParaRPr lang="en-us" sz="4450" cap="none"/>
          </a:p>
        </p:txBody>
      </p:sp>
      <p:pic>
        <p:nvPicPr>
          <p:cNvPr id="6" name="Image 1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OIEAACOEAAAAC0AACMW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793750" y="2691130"/>
            <a:ext cx="6521450" cy="9074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 3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RwYAAIgXAAC4FwAAthkAABAgAAAmAAAACAAAAP//////////"/>
              </a:ext>
            </a:extLst>
          </p:cNvSpPr>
          <p:nvPr/>
        </p:nvSpPr>
        <p:spPr>
          <a:xfrm>
            <a:off x="1020445" y="3825240"/>
            <a:ext cx="2835275" cy="3543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Pricing Analysis</a:t>
            </a:r>
            <a:endParaRPr lang="en-us" sz="2200" cap="none"/>
          </a:p>
        </p:txBody>
      </p:sp>
      <p:sp>
        <p:nvSpPr>
          <p:cNvPr id="8" name="Text 4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RwYAAIwaAACbKwAAyBwAABAgAAAmAAAACAAAAP//////////"/>
              </a:ext>
            </a:extLst>
          </p:cNvSpPr>
          <p:nvPr/>
        </p:nvSpPr>
        <p:spPr>
          <a:xfrm>
            <a:off x="1020445" y="4315460"/>
            <a:ext cx="6068060" cy="3632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Distribution patterns and outlier detection</a:t>
            </a:r>
            <a:endParaRPr lang="en-us" cap="none"/>
          </a:p>
        </p:txBody>
      </p:sp>
      <p:pic>
        <p:nvPicPr>
          <p:cNvPr id="9" name="Image 2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AAtAACOEAAAHlUAACMW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2691130"/>
            <a:ext cx="6521450" cy="9074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" name="Text 5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ZS4AAIgXAADWPwAAthkAABAgAAAmAAAACAAAAP//////////"/>
              </a:ext>
            </a:extLst>
          </p:cNvSpPr>
          <p:nvPr/>
        </p:nvSpPr>
        <p:spPr>
          <a:xfrm>
            <a:off x="7541895" y="3825240"/>
            <a:ext cx="2835275" cy="3543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Room Insights</a:t>
            </a:r>
            <a:endParaRPr lang="en-us" sz="2200" cap="none"/>
          </a:p>
        </p:txBody>
      </p:sp>
      <p:sp>
        <p:nvSpPr>
          <p:cNvPr id="11" name="Text 6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ZS4AAIwaAAC5UwAAyBwAABAgAAAmAAAACAAAAP//////////"/>
              </a:ext>
            </a:extLst>
          </p:cNvSpPr>
          <p:nvPr/>
        </p:nvSpPr>
        <p:spPr>
          <a:xfrm>
            <a:off x="7541895" y="4315460"/>
            <a:ext cx="6068060" cy="3632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Bedroom counts and accommodation types</a:t>
            </a:r>
            <a:endParaRPr lang="en-us" cap="none"/>
          </a:p>
        </p:txBody>
      </p:sp>
      <p:pic>
        <p:nvPicPr>
          <p:cNvPr id="12" name="Image 3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OIEAAAtHgAAAC0AAMIjAAAQAAAAJgAAAAgAAAD//////////w=="/>
              </a:ext>
            </a:extLst>
          </p:cNvPicPr>
          <p:nvPr/>
        </p:nvPicPr>
        <p:blipFill>
          <a:blip r:embed="rId7"/>
          <a:stretch>
            <a:fillRect/>
          </a:stretch>
        </p:blipFill>
        <p:spPr>
          <a:xfrm>
            <a:off x="793750" y="4905375"/>
            <a:ext cx="6521450" cy="9074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3" name="Text 7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RwYAACclAAC4FwAAVScAABAgAAAmAAAACAAAAP//////////"/>
              </a:ext>
            </a:extLst>
          </p:cNvSpPr>
          <p:nvPr/>
        </p:nvSpPr>
        <p:spPr>
          <a:xfrm>
            <a:off x="1020445" y="6039485"/>
            <a:ext cx="2835275" cy="3543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Satisfaction Metrics</a:t>
            </a:r>
            <a:endParaRPr lang="en-us" sz="2200" cap="none"/>
          </a:p>
        </p:txBody>
      </p:sp>
      <p:sp>
        <p:nvSpPr>
          <p:cNvPr id="14" name="Text 8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RwYAACsoAACbKwAAZyoAABAgAAAmAAAACAAAAP//////////"/>
              </a:ext>
            </a:extLst>
          </p:cNvSpPr>
          <p:nvPr/>
        </p:nvSpPr>
        <p:spPr>
          <a:xfrm>
            <a:off x="1020445" y="6529705"/>
            <a:ext cx="6068060" cy="3632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Guest ratings and review scores</a:t>
            </a:r>
            <a:endParaRPr lang="en-us" cap="none"/>
          </a:p>
        </p:txBody>
      </p:sp>
      <p:pic>
        <p:nvPicPr>
          <p:cNvPr id="15" name="Image 4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AAtAAAtHgAAHlUAAMIjAAAQAAAAJgAAAAgAAAD//////////w=="/>
              </a:ext>
            </a:extLst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4905375"/>
            <a:ext cx="6521450" cy="9074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6" name="Text 9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ZS4AACclAADWPwAAVScAABAgAAAmAAAACAAAAP//////////"/>
              </a:ext>
            </a:extLst>
          </p:cNvSpPr>
          <p:nvPr/>
        </p:nvSpPr>
        <p:spPr>
          <a:xfrm>
            <a:off x="7541895" y="6039485"/>
            <a:ext cx="2835275" cy="3543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City Distribution</a:t>
            </a:r>
            <a:endParaRPr lang="en-us" sz="2200" cap="none"/>
          </a:p>
        </p:txBody>
      </p:sp>
      <p:sp>
        <p:nvSpPr>
          <p:cNvPr id="17" name="Text 10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ZS4AACsoAAC5UwAAZyoAABAgAAAmAAAACAAAAP//////////"/>
              </a:ext>
            </a:extLst>
          </p:cNvSpPr>
          <p:nvPr/>
        </p:nvSpPr>
        <p:spPr>
          <a:xfrm>
            <a:off x="7541895" y="6529705"/>
            <a:ext cx="6068060" cy="3632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Geographic listing concentration</a:t>
            </a:r>
            <a:endParaRPr lang="en-us" cap="none"/>
          </a:p>
        </p:txBody>
      </p:sp>
      <p:sp>
        <p:nvSpPr>
          <p:cNvPr id="18" name="Rectangle1"/>
          <p:cNvSpPr>
            <a:extLst>
              <a:ext uri="smNativeData">
                <pr:smNativeData xmlns:pr="smNativeData" xmlns="smNativeData" val="SMDATA_15_umGGaRMAAAAlAAAAZAAAAA8BAAAAkAAAAEgAAACQAAAASAAAAAAAAAAAAAAAAAAAAAEAAABQAAAAAAAAAAAA4D8AAAAAAADgPwAAAAAAAOA/AAAAAAAA4D8AAAAAAADgPwAAAAAAAOA/AAAAAAAA4D8AAAAAAADgPwAAAAAAAOA/AAAAAAAA4D8CAAAAjAAAAAEAAAAAAAAAAAAACf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Av///wEAAAAAAAAAAAAAAAAAAAAAAAAAAAAAAAAAAAAAAAAAAAAAAAJ/f38A5+bmA8zMzADAwP8Af39/AAAAAAAAAAAAAAAAAAAAAAAAAAAAIQAAABgAAAAUAAAA3k0AACguAAAAWgAAoDIAAAAAAAAmAAAACAAAAP//////////"/>
              </a:ext>
            </a:extLst>
          </p:cNvSpPr>
          <p:nvPr/>
        </p:nvSpPr>
        <p:spPr>
          <a:xfrm>
            <a:off x="12658090" y="7503160"/>
            <a:ext cx="1972310" cy="726440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gQAABkFAADpJgAAvQgAABAgAAAmAAAACAAAAP//////////"/>
              </a:ext>
            </a:extLst>
          </p:cNvSpPr>
          <p:nvPr/>
        </p:nvSpPr>
        <p:spPr>
          <a:xfrm>
            <a:off x="783590" y="828675"/>
            <a:ext cx="5541645" cy="5918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cap="none">
                <a:solidFill>
                  <a:srgbClr val="EFD5FA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Dashboard Visualizations</a:t>
            </a:r>
            <a:endParaRPr lang="en-us" sz="37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gQAAK8KAAAtVQAAGQ4AABAAAAAmAAAACAAAAP//////////"/>
              </a:ext>
            </a:extLst>
          </p:cNvSpPr>
          <p:nvPr/>
        </p:nvSpPr>
        <p:spPr>
          <a:xfrm>
            <a:off x="783590" y="1736725"/>
            <a:ext cx="13062585" cy="5549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We developed 10 interactive visualization dashboards in Google Colab, each designed to reveal specific patterns and insights within the European Airbnb marketplace.</a:t>
            </a:r>
            <a:endParaRPr lang="en-us" sz="145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umGGaRMAAAAlAAAAZQAAAA0AAAAAkAAAAEgAAACQAAAASAAAAAAAAAAAAAAAAAAAAAEAAABQAAAAixpMw/ARwT8AAAAAAADwvwAAAAAAAOA/AAAAAAAA4D8AAAAAAADgPwAAAAAAAOA/AAAAAAAA4D8AAAAAAADgPwAAAAAAAOA/AAAAAAAA4D8CAAAAjAAAAAEAAAAAAAAAQ0NI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0NIAP///wEAAAAAAAAAAAAAAAAAAAAAAAAAAAAAAAAAAAAAAAAAAAAAAAB/f38A5+bmA8zMzADAwP8Af39/AAAAAAAAAAAAAAAAAAAAAAAAAAAAIQAAABgAAAAUAAAA0gQAADEPAABxBwAA0BEAABAAAAAmAAAACAAAAP//////////"/>
              </a:ext>
            </a:extLst>
          </p:cNvSpPr>
          <p:nvPr/>
        </p:nvSpPr>
        <p:spPr>
          <a:xfrm>
            <a:off x="783590" y="2469515"/>
            <a:ext cx="426085" cy="426085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>
            <a:noFill/>
          </a:ln>
          <a:effectLst/>
        </p:spPr>
      </p:sp>
      <p:sp>
        <p:nvSpPr>
          <p:cNvPr id="5" name="Text 3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gUAAGkPAAABBwAAmBEAABAgAAAmAAAACAAAAP//////////"/>
              </a:ext>
            </a:extLst>
          </p:cNvSpPr>
          <p:nvPr/>
        </p:nvSpPr>
        <p:spPr>
          <a:xfrm>
            <a:off x="854710" y="2505075"/>
            <a:ext cx="283845" cy="3549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1</a:t>
            </a:r>
            <a:endParaRPr lang="en-us" sz="2200" cap="none"/>
          </a:p>
        </p:txBody>
      </p:sp>
      <p:sp>
        <p:nvSpPr>
          <p:cNvPr id="6" name="Text 4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ggAAJgPAACkGwAAaREAABAgAAAmAAAACAAAAP//////////"/>
              </a:ext>
            </a:extLst>
          </p:cNvSpPr>
          <p:nvPr/>
        </p:nvSpPr>
        <p:spPr>
          <a:xfrm>
            <a:off x="1367790" y="2534920"/>
            <a:ext cx="3125470" cy="295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Price Distribution Histogram</a:t>
            </a:r>
            <a:endParaRPr lang="en-us" sz="185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ggAAP8RAAAuVQAAtBMAABAgAAAmAAAACAAAAP//////////"/>
              </a:ext>
            </a:extLst>
          </p:cNvSpPr>
          <p:nvPr/>
        </p:nvSpPr>
        <p:spPr>
          <a:xfrm>
            <a:off x="1367790" y="2925445"/>
            <a:ext cx="12479020" cy="2774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Reveals typical nightly rates and pricing spread across all listings</a:t>
            </a:r>
            <a:endParaRPr lang="en-us" sz="1450" cap="none"/>
          </a:p>
        </p:txBody>
      </p:sp>
      <p:sp>
        <p:nvSpPr>
          <p:cNvPr id="8" name="Shape 6"/>
          <p:cNvSpPr>
            <a:extLst>
              <a:ext uri="smNativeData">
                <pr:smNativeData xmlns:pr="smNativeData" xmlns="smNativeData" val="SMDATA_15_umGGaRMAAAAlAAAAZQAAAA0AAAAAkAAAAEgAAACQAAAASAAAAAAAAAAAAAAAAAAAAAEAAABQAAAAixpMw/ARwT8AAAAAAADwvwAAAAAAAOA/AAAAAAAA4D8AAAAAAADgPwAAAAAAAOA/AAAAAAAA4D8AAAAAAADgPwAAAAAAAOA/AAAAAAAA4D8CAAAAjAAAAAEAAAAAAAAAQ0NI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0NIAP///wEAAAAAAAAAAAAAAAAAAAAAAAAAAAAAAAAAAAAAAAAAAAAAAAB/f38A5+bmA8zMzADAwP8Af39/AAAAAAAAAAAAAAAAAAAAAAAAAAAAIQAAABgAAAAUAAAA0gQAAKYVAABxBwAARBgAABAAAAAmAAAACAAAAP//////////"/>
              </a:ext>
            </a:extLst>
          </p:cNvSpPr>
          <p:nvPr/>
        </p:nvSpPr>
        <p:spPr>
          <a:xfrm>
            <a:off x="783590" y="3519170"/>
            <a:ext cx="426085" cy="425450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>
            <a:noFill/>
          </a:ln>
          <a:effectLst/>
        </p:spPr>
      </p:sp>
      <p:sp>
        <p:nvSpPr>
          <p:cNvPr id="9" name="Text 7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gUAAN4VAAABBwAADBgAABAgAAAmAAAACAAAAP//////////"/>
              </a:ext>
            </a:extLst>
          </p:cNvSpPr>
          <p:nvPr/>
        </p:nvSpPr>
        <p:spPr>
          <a:xfrm>
            <a:off x="854710" y="3554730"/>
            <a:ext cx="283845" cy="3543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2</a:t>
            </a:r>
            <a:endParaRPr lang="en-us" sz="2200" cap="none"/>
          </a:p>
        </p:txBody>
      </p:sp>
      <p:sp>
        <p:nvSpPr>
          <p:cNvPr id="10" name="Text 8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ggAAAwWAAB1GgAA3hcAABAgAAAmAAAACAAAAP//////////"/>
              </a:ext>
            </a:extLst>
          </p:cNvSpPr>
          <p:nvPr/>
        </p:nvSpPr>
        <p:spPr>
          <a:xfrm>
            <a:off x="1367790" y="3583940"/>
            <a:ext cx="2933065" cy="2959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Top Cities by Listing Count</a:t>
            </a:r>
            <a:endParaRPr lang="en-us" sz="1850" cap="none"/>
          </a:p>
        </p:txBody>
      </p:sp>
      <p:sp>
        <p:nvSpPr>
          <p:cNvPr id="11" name="Text 9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X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ggAAHMYAAAuVQAAKRoAABAgAAAmAAAACAAAAP//////////"/>
              </a:ext>
            </a:extLst>
          </p:cNvSpPr>
          <p:nvPr/>
        </p:nvSpPr>
        <p:spPr>
          <a:xfrm>
            <a:off x="1367790" y="3974465"/>
            <a:ext cx="12479020" cy="2781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Bar chart identifying markets with highest accommodation density</a:t>
            </a:r>
            <a:endParaRPr lang="en-us" sz="1450" cap="none"/>
          </a:p>
        </p:txBody>
      </p:sp>
      <p:sp>
        <p:nvSpPr>
          <p:cNvPr id="12" name="Shape 10"/>
          <p:cNvSpPr>
            <a:extLst>
              <a:ext uri="smNativeData">
                <pr:smNativeData xmlns:pr="smNativeData" xmlns="smNativeData" val="SMDATA_15_umGGaRMAAAAlAAAAZQAAAA0AAAAAkAAAAEgAAACQAAAASAAAAAAAAAAAAAAAAAAAAAEAAABQAAAAixpMw/ARwT8AAAAAAADwvwAAAAAAAOA/AAAAAAAA4D8AAAAAAADgPwAAAAAAAOA/AAAAAAAA4D8AAAAAAADgPwAAAAAAAOA/AAAAAAAA4D8CAAAAjAAAAAEAAAAAAAAAQ0NI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0NIAP///wEAAAAAAAAAAAAAAAAAAAAAAAAAAAAAAAAAAAAAAAAAAAAAAAB/f38A5+bmA8zMzADAwP8Af39/AAAAAAAAAAAAAAAAAAAAAAAAAAAAIQAAABgAAAAUAAAA0gQAABocAABxBwAAuR4AABAAAAAmAAAACAAAAP//////////"/>
              </a:ext>
            </a:extLst>
          </p:cNvSpPr>
          <p:nvPr/>
        </p:nvSpPr>
        <p:spPr>
          <a:xfrm>
            <a:off x="783590" y="4568190"/>
            <a:ext cx="426085" cy="426085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>
            <a:noFill/>
          </a:ln>
          <a:effectLst/>
        </p:spPr>
      </p:sp>
      <p:sp>
        <p:nvSpPr>
          <p:cNvPr id="13" name="Text 11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gUAAFIcAAABBwAAgR4AABAgAAAmAAAACAAAAP//////////"/>
              </a:ext>
            </a:extLst>
          </p:cNvSpPr>
          <p:nvPr/>
        </p:nvSpPr>
        <p:spPr>
          <a:xfrm>
            <a:off x="854710" y="4603750"/>
            <a:ext cx="283845" cy="3549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3</a:t>
            </a:r>
            <a:endParaRPr lang="en-us" sz="2200" cap="none"/>
          </a:p>
        </p:txBody>
      </p:sp>
      <p:sp>
        <p:nvSpPr>
          <p:cNvPr id="14" name="Text 12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f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ggAAIEcAADYHAAAUx4AABAgAAAmAAAACAAAAP//////////"/>
              </a:ext>
            </a:extLst>
          </p:cNvSpPr>
          <p:nvPr/>
        </p:nvSpPr>
        <p:spPr>
          <a:xfrm>
            <a:off x="1367790" y="4633595"/>
            <a:ext cx="3321050" cy="2959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Bedrooms vs Price Correlation</a:t>
            </a:r>
            <a:endParaRPr lang="en-us" sz="1850" cap="none"/>
          </a:p>
        </p:txBody>
      </p:sp>
      <p:sp>
        <p:nvSpPr>
          <p:cNvPr id="15" name="Text 13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ggAAOgeAAAuVQAAnSAAABAgAAAmAAAACAAAAP//////////"/>
              </a:ext>
            </a:extLst>
          </p:cNvSpPr>
          <p:nvPr/>
        </p:nvSpPr>
        <p:spPr>
          <a:xfrm>
            <a:off x="1367790" y="5024120"/>
            <a:ext cx="12479020" cy="2774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Scatter plot showing relationship between size and cost</a:t>
            </a:r>
            <a:endParaRPr lang="en-us" sz="1450" cap="none"/>
          </a:p>
        </p:txBody>
      </p:sp>
      <p:sp>
        <p:nvSpPr>
          <p:cNvPr id="16" name="Shape 14"/>
          <p:cNvSpPr>
            <a:extLst>
              <a:ext uri="smNativeData">
                <pr:smNativeData xmlns:pr="smNativeData" xmlns="smNativeData" val="SMDATA_15_umGGaRMAAAAlAAAAZQAAAA0AAAAAkAAAAEgAAACQAAAASAAAAAAAAAAAAAAAAAAAAAEAAABQAAAAixpMw/ARwT8AAAAAAADwvwAAAAAAAOA/AAAAAAAA4D8AAAAAAADgPwAAAAAAAOA/AAAAAAAA4D8AAAAAAADgPwAAAAAAAOA/AAAAAAAA4D8CAAAAjAAAAAEAAAAAAAAAQ0NI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0NIAP///wEAAAAAAAAAAAAAAAAAAAAAAAAAAAAAAAAAAAAAAAAAAAAAAAB/f38A5+bmA8zMzADAwP8Af39/AAAAAAAAAAAAAAAAAAAAAAAAAAAAIQAAABgAAAAUAAAA0gQAAI8iAABxBwAALiUAABAAAAAmAAAACAAAAP//////////"/>
              </a:ext>
            </a:extLst>
          </p:cNvSpPr>
          <p:nvPr/>
        </p:nvSpPr>
        <p:spPr>
          <a:xfrm>
            <a:off x="783590" y="5617845"/>
            <a:ext cx="426085" cy="426085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>
            <a:noFill/>
          </a:ln>
          <a:effectLst/>
        </p:spPr>
      </p:sp>
      <p:sp>
        <p:nvSpPr>
          <p:cNvPr id="17" name="Text 15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X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gUAAMciAAABBwAA9iQAABAgAAAmAAAACAAAAP//////////"/>
              </a:ext>
            </a:extLst>
          </p:cNvSpPr>
          <p:nvPr/>
        </p:nvSpPr>
        <p:spPr>
          <a:xfrm>
            <a:off x="854710" y="5653405"/>
            <a:ext cx="283845" cy="3549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4</a:t>
            </a:r>
            <a:endParaRPr lang="en-us" sz="2200" cap="none"/>
          </a:p>
        </p:txBody>
      </p:sp>
      <p:sp>
        <p:nvSpPr>
          <p:cNvPr id="18" name="Text 16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ggAAPUiAAD9GgAAxyQAABAgAAAmAAAACAAAAP//////////"/>
              </a:ext>
            </a:extLst>
          </p:cNvSpPr>
          <p:nvPr/>
        </p:nvSpPr>
        <p:spPr>
          <a:xfrm>
            <a:off x="1367790" y="5682615"/>
            <a:ext cx="3019425" cy="2959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Room Type Pricing Analysis</a:t>
            </a:r>
            <a:endParaRPr lang="en-us" sz="1850" cap="none"/>
          </a:p>
        </p:txBody>
      </p:sp>
      <p:sp>
        <p:nvSpPr>
          <p:cNvPr id="19" name="Text 17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ggAAF0lAAAuVQAAEicAABAgAAAmAAAACAAAAP//////////"/>
              </a:ext>
            </a:extLst>
          </p:cNvSpPr>
          <p:nvPr/>
        </p:nvSpPr>
        <p:spPr>
          <a:xfrm>
            <a:off x="1367790" y="6073775"/>
            <a:ext cx="12479020" cy="2774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Comparison of average prices across accommodation categories</a:t>
            </a:r>
            <a:endParaRPr lang="en-us" sz="1450" cap="none"/>
          </a:p>
        </p:txBody>
      </p:sp>
      <p:sp>
        <p:nvSpPr>
          <p:cNvPr id="20" name="Shape 18"/>
          <p:cNvSpPr>
            <a:extLst>
              <a:ext uri="smNativeData">
                <pr:smNativeData xmlns:pr="smNativeData" xmlns="smNativeData" val="SMDATA_15_umGGaRMAAAAlAAAAZQAAAA0AAAAAkAAAAEgAAACQAAAASAAAAAAAAAAAAAAAAAAAAAEAAABQAAAAixpMw/ARwT8AAAAAAADwvwAAAAAAAOA/AAAAAAAA4D8AAAAAAADgPwAAAAAAAOA/AAAAAAAA4D8AAAAAAADgPwAAAAAAAOA/AAAAAAAA4D8CAAAAjAAAAAEAAAAAAAAAQ0NI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Y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0NIAP///wEAAAAAAAAAAAAAAAAAAAAAAAAAAAAAAAAAAAAAAAAAAAAAAAB/f38A5+bmA8zMzADAwP8Af39/AAAAAAAAAAAAAAAAAAAAAAAAAAAAIQAAABgAAAAUAAAA0gQAAAQpAABxBwAAoisAABAAAAAmAAAACAAAAP//////////"/>
              </a:ext>
            </a:extLst>
          </p:cNvSpPr>
          <p:nvPr/>
        </p:nvSpPr>
        <p:spPr>
          <a:xfrm>
            <a:off x="783590" y="6667500"/>
            <a:ext cx="426085" cy="425450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>
            <a:noFill/>
          </a:ln>
          <a:effectLst/>
        </p:spPr>
      </p:sp>
      <p:sp>
        <p:nvSpPr>
          <p:cNvPr id="21" name="Text 19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gUAADspAAABBwAAaisAABAgAAAmAAAACAAAAP//////////"/>
              </a:ext>
            </a:extLst>
          </p:cNvSpPr>
          <p:nvPr/>
        </p:nvSpPr>
        <p:spPr>
          <a:xfrm>
            <a:off x="854710" y="6702425"/>
            <a:ext cx="283845" cy="3549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5</a:t>
            </a:r>
            <a:endParaRPr lang="en-us" sz="2200" cap="none"/>
          </a:p>
        </p:txBody>
      </p:sp>
      <p:sp>
        <p:nvSpPr>
          <p:cNvPr id="22" name="Text 20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ggAAGopAABTGgAAPCsAABAgAAAmAAAACAAAAP//////////"/>
              </a:ext>
            </a:extLst>
          </p:cNvSpPr>
          <p:nvPr/>
        </p:nvSpPr>
        <p:spPr>
          <a:xfrm>
            <a:off x="1367790" y="6732270"/>
            <a:ext cx="2911475" cy="2959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Guest Satisfaction vs Price</a:t>
            </a:r>
            <a:endParaRPr lang="en-us" sz="1850" cap="none"/>
          </a:p>
        </p:txBody>
      </p:sp>
      <p:sp>
        <p:nvSpPr>
          <p:cNvPr id="23" name="Text 21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ggAANErAAAuVQAAhy0AABAgAAAmAAAACAAAAP//////////"/>
              </a:ext>
            </a:extLst>
          </p:cNvSpPr>
          <p:nvPr/>
        </p:nvSpPr>
        <p:spPr>
          <a:xfrm>
            <a:off x="1367790" y="7122795"/>
            <a:ext cx="12479020" cy="2781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Explores whether higher prices correlate with better reviews</a:t>
            </a:r>
            <a:endParaRPr lang="en-us" sz="1450" cap="none"/>
          </a:p>
        </p:txBody>
      </p:sp>
      <p:sp>
        <p:nvSpPr>
          <p:cNvPr id="24" name="Rectangle1"/>
          <p:cNvSpPr>
            <a:extLst>
              <a:ext uri="smNativeData">
                <pr:smNativeData xmlns:pr="smNativeData" xmlns="smNativeData" val="SMDATA_15_umGGaRMAAAAlAAAAZAAAAA8BAAAAkAAAAEgAAACQAAAASAAAAAAAAAAAAAAAAAAAAAEAAABQAAAAAAAAAAAA4D8AAAAAAADgPwAAAAAAAOA/AAAAAAAA4D8AAAAAAADgPwAAAAAAAOA/AAAAAAAA4D8AAAAAAADgPwAAAAAAAOA/AAAAAAAA4D8CAAAAjAAAAAEAAAAAAAAAAAAACf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Av///wEAAAAAAAAAAAAAAAAAAAAAAAAAAAAAAAAAAAAAAAAAAAAAAAJ/f38A5+bmA8zMzADAwP8Af39/AAAAAAAAAAAAAAAAAAAAAAAAAAAAIQAAABgAAAAUAAAArE4AAAEwAAAAWgAAoDIAAAAAAAAmAAAACAAAAP//////////"/>
              </a:ext>
            </a:extLst>
          </p:cNvSpPr>
          <p:nvPr/>
        </p:nvSpPr>
        <p:spPr>
          <a:xfrm>
            <a:off x="12788900" y="7803515"/>
            <a:ext cx="1841500" cy="426085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gQAAFEKAAAfMwAArQ4AABAgAAAmAAAACAAAAP//////////"/>
              </a:ext>
            </a:extLst>
          </p:cNvSpPr>
          <p:nvPr/>
        </p:nvSpPr>
        <p:spPr>
          <a:xfrm>
            <a:off x="793750" y="1677035"/>
            <a:ext cx="7516495" cy="7086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cap="none">
                <a:solidFill>
                  <a:srgbClr val="EFD5FA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Key Visualizations Showcase</a:t>
            </a:r>
            <a:endParaRPr lang="en-us" sz="4450" cap="none"/>
          </a:p>
        </p:txBody>
      </p:sp>
      <p:pic>
        <p:nvPicPr>
          <p:cNvPr id="3" name="Image 0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OIEAAB4EQAATRcAANoc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2839720"/>
            <a:ext cx="2994025" cy="185039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 1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gQAAJgeAABTFgAAxiAAABAgAAAmAAAACAAAAP//////////"/>
              </a:ext>
            </a:extLst>
          </p:cNvSpPr>
          <p:nvPr/>
        </p:nvSpPr>
        <p:spPr>
          <a:xfrm>
            <a:off x="793750" y="4973320"/>
            <a:ext cx="2835275" cy="3543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Price Distribution</a:t>
            </a:r>
            <a:endParaRPr lang="en-us" sz="2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gQAAJwhAAB3HgAATygAABAAAAAmAAAACAAAAP//////////"/>
              </a:ext>
            </a:extLst>
          </p:cNvSpPr>
          <p:nvPr/>
        </p:nvSpPr>
        <p:spPr>
          <a:xfrm>
            <a:off x="793750" y="5463540"/>
            <a:ext cx="4158615" cy="1089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Histogram revealing concentrated pricing between €50-150 per night with long tail toward luxury options</a:t>
            </a:r>
            <a:endParaRPr lang="en-us" cap="none"/>
          </a:p>
        </p:txBody>
      </p:sp>
      <p:pic>
        <p:nvPicPr>
          <p:cNvPr id="6" name="Image 1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YgAAB4EQAAoTIAANoc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5236210" y="2839720"/>
            <a:ext cx="2994025" cy="185039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 3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NiAAAJgeAACmMQAAxiAAABAgAAAmAAAACAAAAP//////////"/>
              </a:ext>
            </a:extLst>
          </p:cNvSpPr>
          <p:nvPr/>
        </p:nvSpPr>
        <p:spPr>
          <a:xfrm>
            <a:off x="5236210" y="4973320"/>
            <a:ext cx="2834640" cy="3543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City Rankings</a:t>
            </a:r>
            <a:endParaRPr lang="en-us" sz="2200" cap="none"/>
          </a:p>
        </p:txBody>
      </p:sp>
      <p:sp>
        <p:nvSpPr>
          <p:cNvPr id="8" name="Text 4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NiAAAJwhAADLOQAAEyYAABAAAAAmAAAACAAAAP//////////"/>
              </a:ext>
            </a:extLst>
          </p:cNvSpPr>
          <p:nvPr/>
        </p:nvSpPr>
        <p:spPr>
          <a:xfrm>
            <a:off x="5236210" y="5463540"/>
            <a:ext cx="4158615" cy="7258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Bar chart comparing listing volumes across major European destinations</a:t>
            </a:r>
            <a:endParaRPr lang="en-us" cap="none"/>
          </a:p>
        </p:txBody>
      </p:sp>
      <p:pic>
        <p:nvPicPr>
          <p:cNvPr id="9" name="Image 2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jAwQ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Ik7AAB4EQAA9E0AANoc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9678035" y="2839720"/>
            <a:ext cx="2994025" cy="185039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" name="Text 5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iTsAAJgeAAD6TAAAxiAAABAgAAAmAAAACAAAAP//////////"/>
              </a:ext>
            </a:extLst>
          </p:cNvSpPr>
          <p:nvPr/>
        </p:nvSpPr>
        <p:spPr>
          <a:xfrm>
            <a:off x="9678035" y="4973320"/>
            <a:ext cx="2835275" cy="3543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Size vs Price</a:t>
            </a:r>
            <a:endParaRPr lang="en-us" sz="2200" cap="none"/>
          </a:p>
        </p:txBody>
      </p:sp>
      <p:sp>
        <p:nvSpPr>
          <p:cNvPr id="11" name="Text 6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iTsAAJwhAAAeVQAATygAABAAAAAmAAAACAAAAP//////////"/>
              </a:ext>
            </a:extLst>
          </p:cNvSpPr>
          <p:nvPr/>
        </p:nvSpPr>
        <p:spPr>
          <a:xfrm>
            <a:off x="9678035" y="5463540"/>
            <a:ext cx="4158615" cy="1089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Scatter visualization showing positive correlation between bedrooms and nightly rates</a:t>
            </a:r>
            <a:endParaRPr lang="en-us" cap="none"/>
          </a:p>
        </p:txBody>
      </p:sp>
      <p:sp>
        <p:nvSpPr>
          <p:cNvPr id="12" name="Rectangle1"/>
          <p:cNvSpPr>
            <a:extLst>
              <a:ext uri="smNativeData">
                <pr:smNativeData xmlns:pr="smNativeData" xmlns="smNativeData" val="SMDATA_15_umGGaRMAAAAlAAAAZAAAAA8BAAAAkAAAAEgAAACQAAAASAAAAAAAAAAAAAAAAAAAAAEAAABQAAAAAAAAAAAA4D8AAAAAAADgPwAAAAAAAOA/AAAAAAAA4D8AAAAAAADgPwAAAAAAAOA/AAAAAAAA4D8AAAAAAADgPwAAAAAAAOA/AAAAAAAA4D8CAAAAjAAAAAEAAAAAAAAAKjRB2/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AAAAAAAAAAA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jRBtP///wEAAAAAAAAAAAAAAAAAAAAAAAAAAAAAAAAAAAAAAAAAAAAAAAJ/f38A5+bmA8zMzADAwP8Af39/AAAAAAAAAAAAAAAAAAAAAAAAAAAAIQAAABgAAAAUAAAAB04AALguAAAAWgAAoDIAAAAAAAAmAAAACAAAAP//////////"/>
              </a:ext>
            </a:extLst>
          </p:cNvSpPr>
          <p:nvPr/>
        </p:nvSpPr>
        <p:spPr>
          <a:xfrm>
            <a:off x="12684125" y="7594600"/>
            <a:ext cx="1946275" cy="635000"/>
          </a:xfrm>
          <a:prstGeom prst="rect">
            <a:avLst/>
          </a:prstGeom>
          <a:solidFill>
            <a:schemeClr val="tx2">
              <a:shade val="62500"/>
            </a:schemeClr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wUAAE8EAAD1KgAA3AcAABAgAAAmAAAACAAAAP//////////"/>
              </a:ext>
            </a:extLst>
          </p:cNvSpPr>
          <p:nvPr/>
        </p:nvSpPr>
        <p:spPr>
          <a:xfrm>
            <a:off x="941705" y="700405"/>
            <a:ext cx="6041390" cy="5772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cap="none">
                <a:solidFill>
                  <a:srgbClr val="EFD5FA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Additional Dashboard Views</a:t>
            </a:r>
            <a:endParaRPr lang="en-us" sz="3600" cap="none"/>
          </a:p>
        </p:txBody>
      </p:sp>
      <p:pic>
        <p:nvPicPr>
          <p:cNvPr id="3" name="Image 0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KhZ3R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NcFAAB0CgAAxhQAAGQZ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949325" y="1699260"/>
            <a:ext cx="2427605" cy="242824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Image 1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ghs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8VAAB0CgAAnyQAAGQZ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3524885" y="1699260"/>
            <a:ext cx="2428240" cy="242824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Image 2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BBVDWw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IglAAB0CgAAeDQAAGQZ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6101080" y="1699260"/>
            <a:ext cx="2428240" cy="242824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Image 3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Bf0dNn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GA1AAB0CgAAUUQAAGQZ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8676640" y="1699260"/>
            <a:ext cx="2428875" cy="242824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Image 4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mKS31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lFAAB0CgAAKVQAAGQZAAAQAAAAJgAAAAgAAAD//////////w=="/>
              </a:ext>
            </a:extLst>
          </p:cNvPicPr>
          <p:nvPr/>
        </p:nvPicPr>
        <p:blipFill>
          <a:blip r:embed="rId7"/>
          <a:stretch>
            <a:fillRect/>
          </a:stretch>
        </p:blipFill>
        <p:spPr>
          <a:xfrm>
            <a:off x="11252835" y="1699260"/>
            <a:ext cx="2428240" cy="242824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Image 5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VEvxc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NcFAABMGgAAxhQAADwpAAAQAAAAJgAAAAgAAAD//////////w=="/>
              </a:ext>
            </a:extLst>
          </p:cNvPicPr>
          <p:nvPr/>
        </p:nvPicPr>
        <p:blipFill>
          <a:blip r:embed="rId8"/>
          <a:stretch>
            <a:fillRect/>
          </a:stretch>
        </p:blipFill>
        <p:spPr>
          <a:xfrm>
            <a:off x="949325" y="4274820"/>
            <a:ext cx="2427605" cy="24282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Text 1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wUAAAQrAAA1VAAAUS4AABAAAAAmAAAACAAAAP//////////"/>
              </a:ext>
            </a:extLst>
          </p:cNvSpPr>
          <p:nvPr/>
        </p:nvSpPr>
        <p:spPr>
          <a:xfrm>
            <a:off x="941705" y="6992620"/>
            <a:ext cx="12746990" cy="5365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Each visualization layer provides unique insights—from room type pricing breakdowns to satisfaction score distributions—enabling comprehensive market understanding.</a:t>
            </a:r>
            <a:endParaRPr lang="en-us" sz="1450" cap="none"/>
          </a:p>
        </p:txBody>
      </p:sp>
      <p:sp>
        <p:nvSpPr>
          <p:cNvPr id="10" name="Rectangle1"/>
          <p:cNvSpPr>
            <a:extLst>
              <a:ext uri="smNativeData">
                <pr:smNativeData xmlns:pr="smNativeData" xmlns="smNativeData" val="SMDATA_15_umGGaRMAAAAlAAAAZAAAAA8BAAAAkAAAAEgAAACQAAAASAAAAAAAAAAAAAAAAAAAAAEAAABQAAAAAAAAAAAA4D8AAAAAAADgPwAAAAAAAOA/AAAAAAAA4D8AAAAAAADgPwAAAAAAAOA/AAAAAAAA4D8AAAAAAADgPwAAAAAAAOA/AAAAAAAA4D8CAAAAjAAAAAEAAAAAAAAAAAAACf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Av///wEAAAAAAAAAAAAAAAAAAAAAAAAAAAAAAAAAAAAAAAAAAAAAAAJ/f38A5+bmA8zMzADAwP8Af39/AAAAAAAAAAAAAAAAAAAAAAAAAAAAIQAAABgAAAAUAAAA1U4AAK8vAAAAWgAAoDIAAAAAAAAmAAAACAAAAP//////////"/>
              </a:ext>
            </a:extLst>
          </p:cNvSpPr>
          <p:nvPr/>
        </p:nvSpPr>
        <p:spPr>
          <a:xfrm>
            <a:off x="12814935" y="7751445"/>
            <a:ext cx="1815465" cy="478155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taDf3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EA4AAAAAAAAAFoAAKAy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 0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AMAACAHAACBIAAAZAoAABAgAAAmAAAACAAAAP//////////"/>
              </a:ext>
            </a:extLst>
          </p:cNvSpPr>
          <p:nvPr/>
        </p:nvSpPr>
        <p:spPr>
          <a:xfrm>
            <a:off x="594360" y="1158240"/>
            <a:ext cx="4689475" cy="5308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cap="none">
                <a:solidFill>
                  <a:srgbClr val="EFD5FA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Key Insights Discovered</a:t>
            </a:r>
            <a:endParaRPr lang="en-us" sz="3300" cap="none"/>
          </a:p>
        </p:txBody>
      </p:sp>
      <p:sp>
        <p:nvSpPr>
          <p:cNvPr id="4" name="Shape 1"/>
          <p:cNvSpPr>
            <a:extLst>
              <a:ext uri="smNativeData">
                <pr:smNativeData xmlns:pr="smNativeData" xmlns="smNativeData" val="SMDATA_15_umGGaRMAAAAlAAAAZQAAAA0AAAAAkAAAAEgAAACQAAAASAAAAAAAAAAAAAAAAAAAAAEAAABQAAAAd9Zuu9Bcxz8AAAAAAADwvwAAAAAAAOA/AAAAAAAA4D8AAAAAAADgPwAAAAAAAOA/AAAAAAAA4D8AAAAAAADgPwAAAAAAAOA/AAAAAAAA4D8CAAAAjAAAAAEAAAAAAAAAJCQpAP///wgAAAAAAAAAAAAAAAAAAAAAAAAAAAAAAAAAAAAAeAAAAAEAAABAAAAAAAAAAAAAAABaAAAAAAAAAAAAAAAAAAAAAAAAAAAAAAAAAAAAAAAAAAAAAAAAAAAAAAAAAAAAAAAAAAAAAAAAAAAAAAAAAAAAAAAAAAAAAAAAAAAAFAAAADwAAAABAAAAAAAAAFxcYQAk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CQpAP///wEAAAAAAAAAAAAAAAAAAAAAAAAAAAAAAAAAAAAAAAAAAFxcYQB/f38A5+bmA8zMzADAwP8Af39/AAAAAAAAAAAAAAAAAAAAAAAAAAAAIQAAABgAAAAUAAAAqAMAAJELAACYNAAA9hIAABAAAAAmAAAACAAAAP//////////"/>
              </a:ext>
            </a:extLst>
          </p:cNvSpPr>
          <p:nvPr/>
        </p:nvSpPr>
        <p:spPr>
          <a:xfrm>
            <a:off x="594360" y="1880235"/>
            <a:ext cx="7955280" cy="1202055"/>
          </a:xfrm>
          <a:prstGeom prst="roundRect">
            <a:avLst>
              <a:gd name="adj" fmla="val 9126"/>
            </a:avLst>
          </a:prstGeom>
          <a:solidFill>
            <a:srgbClr val="242429"/>
          </a:solidFill>
          <a:ln w="22860" cap="flat" cmpd="sng" algn="ctr">
            <a:solidFill>
              <a:srgbClr val="5C5C61"/>
            </a:solidFill>
            <a:prstDash val="solid"/>
            <a:headEnd type="none"/>
            <a:tailEnd type="none"/>
          </a:ln>
          <a:effectLst/>
        </p:spPr>
      </p:sp>
      <p:sp>
        <p:nvSpPr>
          <p:cNvPr id="5" name="Shape 2"/>
          <p:cNvSpPr>
            <a:extLst>
              <a:ext uri="smNativeData">
                <pr:smNativeData xmlns:pr="smNativeData" xmlns="smNativeData" val="SMDATA_15_umGGaRMAAAAlAAAAZQAAAA0AAAAAkAAAAEgAAACQAAAASAAAAAAAAAAAAAAAAAAAAAEAAABQAAAAZyeDo+TV4T8AAAAAAADwvwAAAAAAAOA/AAAAAAAA4D8AAAAAAADgPwAAAAAAAOA/AAAAAAAA4D8AAAAAAADgPwAAAAAAAOA/AAAAAAAA4D8CAAAAjAAAAAEAAAAAAAAA/cTE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cTEAP///wEAAAAAAAAAAAAAAAAAAAAAAAAAAAAAAAAAAAAAAAAAAAAAAAB/f38A5+bmA8zMzADAwP8Af39/AAAAAAAAAAAAAAAAAAAAAAAAAAAAIQAAABgAAAAUAAAAhAMAAJELAAAUBAAA9hIAABAAAAAmAAAACAAAAP//////////"/>
              </a:ext>
            </a:extLst>
          </p:cNvSpPr>
          <p:nvPr/>
        </p:nvSpPr>
        <p:spPr>
          <a:xfrm>
            <a:off x="571500" y="1880235"/>
            <a:ext cx="91440" cy="1202055"/>
          </a:xfrm>
          <a:prstGeom prst="roundRect">
            <a:avLst>
              <a:gd name="adj" fmla="val 27868"/>
            </a:avLst>
          </a:prstGeom>
          <a:solidFill>
            <a:srgbClr val="FDC4C4"/>
          </a:solidFill>
          <a:ln>
            <a:noFill/>
          </a:ln>
          <a:effectLst/>
        </p:spPr>
      </p:sp>
      <p:sp>
        <p:nvSpPr>
          <p:cNvPr id="6" name="Text 3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j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RAUAAMAMAABUEgAAYg4AABAgAAAmAAAACAAAAP//////////"/>
              </a:ext>
            </a:extLst>
          </p:cNvSpPr>
          <p:nvPr/>
        </p:nvSpPr>
        <p:spPr>
          <a:xfrm>
            <a:off x="855980" y="2072640"/>
            <a:ext cx="2123440" cy="2654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Pricing Patterns</a:t>
            </a:r>
            <a:endParaRPr lang="en-us" sz="1650" cap="none"/>
          </a:p>
        </p:txBody>
      </p:sp>
      <p:sp>
        <p:nvSpPr>
          <p:cNvPr id="7" name="Text 4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w+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RAUAANoOAABoMwAAxxEAABAAAAAmAAAACAAAAP//////////"/>
              </a:ext>
            </a:extLst>
          </p:cNvSpPr>
          <p:nvPr/>
        </p:nvSpPr>
        <p:spPr>
          <a:xfrm>
            <a:off x="855980" y="2414270"/>
            <a:ext cx="7500620" cy="4756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Most listings cluster in the mid-range bracket, with premium properties commanding significantly higher rates in tourist-heavy cities like Paris and Amsterdam.</a:t>
            </a:r>
            <a:endParaRPr lang="en-us" sz="1300" cap="none"/>
          </a:p>
        </p:txBody>
      </p:sp>
      <p:sp>
        <p:nvSpPr>
          <p:cNvPr id="8" name="Shape 5"/>
          <p:cNvSpPr>
            <a:extLst>
              <a:ext uri="smNativeData">
                <pr:smNativeData xmlns:pr="smNativeData" xmlns="smNativeData" val="SMDATA_15_umGGaRMAAAAlAAAAZQAAAA0AAAAAkAAAAEgAAACQAAAASAAAAAAAAAAAAAAAAAAAAAEAAABQAAAAd9Zuu9Bcxz8AAAAAAADwvwAAAAAAAOA/AAAAAAAA4D8AAAAAAADgPwAAAAAAAOA/AAAAAAAA4D8AAAAAAADgPwAAAAAAAOA/AAAAAAAA4D8CAAAAjAAAAAEAAAAAAAAAJCQpAP///wgAAAAAAAAAAAAAAAAAAAAAAAAAAAAAAAAAAAAAeAAAAAEAAABAAAAAAAAAAAAAAABaAAAAAAAAAAAAAAAAAAAAAAAAAAAAAAAAAAAAAAAAAAAAAAAAAAAAAAAAAAAAAAAAAAAAAAAAAAAAAAAAAAAAAAAAAAAAAAAAAAAAFAAAADwAAAABAAAAAAAAAFxcYQAk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Ag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CQpAP///wEAAAAAAAAAAAAAAAAAAAAAAAAAAAAAAAAAAAAAAAAAAFxcYQB/f38A5+bmA8zMzADAwP8Af39/AAAAAAAAAAAAAAAAAAAAAAAAAAAAIQAAABgAAAAUAAAAqAMAAL4TAACYNAAAJBsAABAAAAAmAAAACAAAAP//////////"/>
              </a:ext>
            </a:extLst>
          </p:cNvSpPr>
          <p:nvPr/>
        </p:nvSpPr>
        <p:spPr>
          <a:xfrm>
            <a:off x="594360" y="3209290"/>
            <a:ext cx="7955280" cy="1202690"/>
          </a:xfrm>
          <a:prstGeom prst="roundRect">
            <a:avLst>
              <a:gd name="adj" fmla="val 9126"/>
            </a:avLst>
          </a:prstGeom>
          <a:solidFill>
            <a:srgbClr val="242429"/>
          </a:solidFill>
          <a:ln w="22860" cap="flat" cmpd="sng" algn="ctr">
            <a:solidFill>
              <a:srgbClr val="5C5C61"/>
            </a:solidFill>
            <a:prstDash val="solid"/>
            <a:headEnd type="none"/>
            <a:tailEnd type="none"/>
          </a:ln>
          <a:effectLst/>
        </p:spPr>
      </p:sp>
      <p:sp>
        <p:nvSpPr>
          <p:cNvPr id="9" name="Shape 6"/>
          <p:cNvSpPr>
            <a:extLst>
              <a:ext uri="smNativeData">
                <pr:smNativeData xmlns:pr="smNativeData" xmlns="smNativeData" val="SMDATA_15_umGGaRMAAAAlAAAAZQAAAA0AAAAAkAAAAEgAAACQAAAASAAAAAAAAAAAAAAAAAAAAAEAAABQAAAAZyeDo+TV4T8AAAAAAADwvwAAAAAAAOA/AAAAAAAA4D8AAAAAAADgPwAAAAAAAOA/AAAAAAAA4D8AAAAAAADgPwAAAAAAAOA/AAAAAAAA4D8CAAAAjAAAAAEAAAAAAAAA/cTE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om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cTEAP///wEAAAAAAAAAAAAAAAAAAAAAAAAAAAAAAAAAAAAAAAAAAAAAAAB/f38A5+bmA8zMzADAwP8Af39/AAAAAAAAAAAAAAAAAAAAAAAAAAAAIQAAABgAAAAUAAAAhAMAAL4TAAAUBAAAJBsAABAAAAAmAAAACAAAAP//////////"/>
              </a:ext>
            </a:extLst>
          </p:cNvSpPr>
          <p:nvPr/>
        </p:nvSpPr>
        <p:spPr>
          <a:xfrm>
            <a:off x="571500" y="3209290"/>
            <a:ext cx="91440" cy="1202690"/>
          </a:xfrm>
          <a:prstGeom prst="roundRect">
            <a:avLst>
              <a:gd name="adj" fmla="val 27868"/>
            </a:avLst>
          </a:prstGeom>
          <a:solidFill>
            <a:srgbClr val="FDC4C4"/>
          </a:solidFill>
          <a:ln>
            <a:noFill/>
          </a:ln>
          <a:effectLst/>
        </p:spPr>
      </p:sp>
      <p:sp>
        <p:nvSpPr>
          <p:cNvPr id="10" name="Text 7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Fl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RAUAAO4UAAClEgAAkBYAABAgAAAmAAAACAAAAP//////////"/>
              </a:ext>
            </a:extLst>
          </p:cNvSpPr>
          <p:nvPr/>
        </p:nvSpPr>
        <p:spPr>
          <a:xfrm>
            <a:off x="855980" y="3402330"/>
            <a:ext cx="2174875" cy="2654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Market Concentration</a:t>
            </a:r>
            <a:endParaRPr lang="en-us" sz="1650" cap="none"/>
          </a:p>
        </p:txBody>
      </p:sp>
      <p:sp>
        <p:nvSpPr>
          <p:cNvPr id="11" name="Text 8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P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RAUAAAgXAABoMwAA9RkAABAAAAAmAAAACAAAAP//////////"/>
              </a:ext>
            </a:extLst>
          </p:cNvSpPr>
          <p:nvPr/>
        </p:nvSpPr>
        <p:spPr>
          <a:xfrm>
            <a:off x="855980" y="3743960"/>
            <a:ext cx="7500620" cy="4756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Major capital cities dominate listing counts, but emerging markets show rapid growth and competitive pricing strategies.</a:t>
            </a:r>
            <a:endParaRPr lang="en-us" sz="1300" cap="none"/>
          </a:p>
        </p:txBody>
      </p:sp>
      <p:sp>
        <p:nvSpPr>
          <p:cNvPr id="12" name="Shape 9"/>
          <p:cNvSpPr>
            <a:extLst>
              <a:ext uri="smNativeData">
                <pr:smNativeData xmlns:pr="smNativeData" xmlns="smNativeData" val="SMDATA_15_umGGaRMAAAAlAAAAZQAAAA0AAAAAkAAAAEgAAACQAAAASAAAAAAAAAAAAAAAAAAAAAEAAABQAAAAd9Zuu9Bcxz8AAAAAAADwvwAAAAAAAOA/AAAAAAAA4D8AAAAAAADgPwAAAAAAAOA/AAAAAAAA4D8AAAAAAADgPwAAAAAAAOA/AAAAAAAA4D8CAAAAjAAAAAEAAAAAAAAAJCQpAP///wgAAAAAAAAAAAAAAAAAAAAAAAAAAAAAAAAAAAAAeAAAAAEAAABAAAAAAAAAAAAAAABaAAAAAAAAAAAAAAAAAAAAAAAAAAAAAAAAAAAAAAAAAAAAAAAAAAAAAAAAAAAAAAAAAAAAAAAAAAAAAAAAAAAAAAAAAAAAAAAAAAAAFAAAADwAAAABAAAAAAAAAFxcYQAk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YI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CQpAP///wEAAAAAAAAAAAAAAAAAAAAAAAAAAAAAAAAAAAAAAAAAAFxcYQB/f38A5+bmA8zMzADAwP8Af39/AAAAAAAAAAAAAAAAAAAAAAAAAAAAIQAAABgAAAAUAAAAqAMAAOwbAACYNAAAUiMAABAAAAAmAAAACAAAAP//////////"/>
              </a:ext>
            </a:extLst>
          </p:cNvSpPr>
          <p:nvPr/>
        </p:nvSpPr>
        <p:spPr>
          <a:xfrm>
            <a:off x="594360" y="4538980"/>
            <a:ext cx="7955280" cy="1202690"/>
          </a:xfrm>
          <a:prstGeom prst="roundRect">
            <a:avLst>
              <a:gd name="adj" fmla="val 9126"/>
            </a:avLst>
          </a:prstGeom>
          <a:solidFill>
            <a:srgbClr val="242429"/>
          </a:solidFill>
          <a:ln w="22860" cap="flat" cmpd="sng" algn="ctr">
            <a:solidFill>
              <a:srgbClr val="5C5C61"/>
            </a:solidFill>
            <a:prstDash val="solid"/>
            <a:headEnd type="none"/>
            <a:tailEnd type="none"/>
          </a:ln>
          <a:effectLst/>
        </p:spPr>
      </p:sp>
      <p:sp>
        <p:nvSpPr>
          <p:cNvPr id="13" name="Shape 10"/>
          <p:cNvSpPr>
            <a:extLst>
              <a:ext uri="smNativeData">
                <pr:smNativeData xmlns:pr="smNativeData" xmlns="smNativeData" val="SMDATA_15_umGGaRMAAAAlAAAAZQAAAA0AAAAAkAAAAEgAAACQAAAASAAAAAAAAAAAAAAAAAAAAAEAAABQAAAAZyeDo+TV4T8AAAAAAADwvwAAAAAAAOA/AAAAAAAA4D8AAAAAAADgPwAAAAAAAOA/AAAAAAAA4D8AAAAAAADgPwAAAAAAAOA/AAAAAAAA4D8CAAAAjAAAAAEAAAAAAAAA/cTE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1R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cTEAP///wEAAAAAAAAAAAAAAAAAAAAAAAAAAAAAAAAAAAAAAAAAAAAAAAB/f38A5+bmA8zMzADAwP8Af39/AAAAAAAAAAAAAAAAAAAAAAAAAAAAIQAAABgAAAAUAAAAhAMAAOwbAAAUBAAAUiMAABAAAAAmAAAACAAAAP//////////"/>
              </a:ext>
            </a:extLst>
          </p:cNvSpPr>
          <p:nvPr/>
        </p:nvSpPr>
        <p:spPr>
          <a:xfrm>
            <a:off x="571500" y="4538980"/>
            <a:ext cx="91440" cy="1202690"/>
          </a:xfrm>
          <a:prstGeom prst="roundRect">
            <a:avLst>
              <a:gd name="adj" fmla="val 27868"/>
            </a:avLst>
          </a:prstGeom>
          <a:solidFill>
            <a:srgbClr val="FDC4C4"/>
          </a:solidFill>
          <a:ln>
            <a:noFill/>
          </a:ln>
          <a:effectLst/>
        </p:spPr>
      </p:sp>
      <p:sp>
        <p:nvSpPr>
          <p:cNvPr id="14" name="Text 11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2N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RAUAABwdAABHEwAAvh4AABAgAAAmAAAACAAAAP//////////"/>
              </a:ext>
            </a:extLst>
          </p:cNvSpPr>
          <p:nvPr/>
        </p:nvSpPr>
        <p:spPr>
          <a:xfrm>
            <a:off x="855980" y="4732020"/>
            <a:ext cx="2277745" cy="2654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Size-Price Relationship</a:t>
            </a:r>
            <a:endParaRPr lang="en-us" sz="1650" cap="none"/>
          </a:p>
        </p:txBody>
      </p:sp>
      <p:sp>
        <p:nvSpPr>
          <p:cNvPr id="15" name="Text 12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Ne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RAUAADYfAABoMwAAIiIAABAAAAAmAAAACAAAAP//////////"/>
              </a:ext>
            </a:extLst>
          </p:cNvSpPr>
          <p:nvPr/>
        </p:nvSpPr>
        <p:spPr>
          <a:xfrm>
            <a:off x="855980" y="5073650"/>
            <a:ext cx="7500620" cy="4749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Clear positive correlation between bedroom count and nightly rates, though outliers suggest location and amenities also drive premium pricing.</a:t>
            </a:r>
            <a:endParaRPr lang="en-us" sz="1300" cap="none"/>
          </a:p>
        </p:txBody>
      </p:sp>
      <p:sp>
        <p:nvSpPr>
          <p:cNvPr id="16" name="Shape 13"/>
          <p:cNvSpPr>
            <a:extLst>
              <a:ext uri="smNativeData">
                <pr:smNativeData xmlns:pr="smNativeData" xmlns="smNativeData" val="SMDATA_15_umGGaRMAAAAlAAAAZQAAAA0AAAAAkAAAAEgAAACQAAAASAAAAAAAAAAAAAAAAAAAAAEAAABQAAAAd9Zuu9Bcxz8AAAAAAADwvwAAAAAAAOA/AAAAAAAA4D8AAAAAAADgPwAAAAAAAOA/AAAAAAAA4D8AAAAAAADgPwAAAAAAAOA/AAAAAAAA4D8CAAAAjAAAAAEAAAAAAAAAJCQpAP///wgAAAAAAAAAAAAAAAAAAAAAAAAAAAAAAAAAAAAAeAAAAAEAAABAAAAAAAAAAAAAAABaAAAAAAAAAAAAAAAAAAAAAAAAAAAAAAAAAAAAAAAAAAAAAAAAAAAAAAAAAAAAAAAAAAAAAAAAAAAAAAAAAAAAAAAAAAAAAAAAAAAAFAAAADwAAAABAAAAAAAAAFxcYQAk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s4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CQpAP///wEAAAAAAAAAAAAAAAAAAAAAAAAAAAAAAAAAAAAAAAAAAFxcYQB/f38A5+bmA8zMzADAwP8Af39/AAAAAAAAAAAAAAAAAAAAAAAAAAAAIQAAABgAAAAUAAAAqAMAABokAACYNAAAgCsAABAAAAAmAAAACAAAAP//////////"/>
              </a:ext>
            </a:extLst>
          </p:cNvSpPr>
          <p:nvPr/>
        </p:nvSpPr>
        <p:spPr>
          <a:xfrm>
            <a:off x="594360" y="5868670"/>
            <a:ext cx="7955280" cy="1202690"/>
          </a:xfrm>
          <a:prstGeom prst="roundRect">
            <a:avLst>
              <a:gd name="adj" fmla="val 9126"/>
            </a:avLst>
          </a:prstGeom>
          <a:solidFill>
            <a:srgbClr val="242429"/>
          </a:solidFill>
          <a:ln w="22860" cap="flat" cmpd="sng" algn="ctr">
            <a:solidFill>
              <a:srgbClr val="5C5C61"/>
            </a:solidFill>
            <a:prstDash val="solid"/>
            <a:headEnd type="none"/>
            <a:tailEnd type="none"/>
          </a:ln>
          <a:effectLst/>
        </p:spPr>
      </p:sp>
      <p:sp>
        <p:nvSpPr>
          <p:cNvPr id="17" name="Shape 14"/>
          <p:cNvSpPr>
            <a:extLst>
              <a:ext uri="smNativeData">
                <pr:smNativeData xmlns:pr="smNativeData" xmlns="smNativeData" val="SMDATA_15_umGGaRMAAAAlAAAAZQAAAA0AAAAAkAAAAEgAAACQAAAASAAAAAAAAAAAAAAAAAAAAAEAAABQAAAAZyeDo+TV4T8AAAAAAADwvwAAAAAAAOA/AAAAAAAA4D8AAAAAAADgPwAAAAAAAOA/AAAAAAAA4D8AAAAAAADgPwAAAAAAAOA/AAAAAAAA4D8CAAAAjAAAAAEAAAAAAAAA/cTE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VL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cTEAP///wEAAAAAAAAAAAAAAAAAAAAAAAAAAAAAAAAAAAAAAAAAAAAAAAB/f38A5+bmA8zMzADAwP8Af39/AAAAAAAAAAAAAAAAAAAAAAAAAAAAIQAAABgAAAAUAAAAhAMAABokAAAUBAAAgCsAABAAAAAmAAAACAAAAP//////////"/>
              </a:ext>
            </a:extLst>
          </p:cNvSpPr>
          <p:nvPr/>
        </p:nvSpPr>
        <p:spPr>
          <a:xfrm>
            <a:off x="571500" y="5868670"/>
            <a:ext cx="91440" cy="1202690"/>
          </a:xfrm>
          <a:prstGeom prst="roundRect">
            <a:avLst>
              <a:gd name="adj" fmla="val 27868"/>
            </a:avLst>
          </a:prstGeom>
          <a:solidFill>
            <a:srgbClr val="FDC4C4"/>
          </a:solidFill>
          <a:ln>
            <a:noFill/>
          </a:ln>
          <a:effectLst/>
        </p:spPr>
      </p:sp>
      <p:sp>
        <p:nvSpPr>
          <p:cNvPr id="18" name="Text 15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Qa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RAUAAEklAABUEgAA7CYAABAgAAAmAAAACAAAAP//////////"/>
              </a:ext>
            </a:extLst>
          </p:cNvSpPr>
          <p:nvPr/>
        </p:nvSpPr>
        <p:spPr>
          <a:xfrm>
            <a:off x="855980" y="6061075"/>
            <a:ext cx="2123440" cy="2660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cap="none">
                <a:solidFill>
                  <a:srgbClr val="C7CDD6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Satisfaction Trends</a:t>
            </a:r>
            <a:endParaRPr lang="en-us" sz="1650" cap="none"/>
          </a:p>
        </p:txBody>
      </p:sp>
      <p:sp>
        <p:nvSpPr>
          <p:cNvPr id="19" name="Text 16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gy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RAUAAGQnAABoMwAAUCoAABAAAAAmAAAACAAAAP//////////"/>
              </a:ext>
            </a:extLst>
          </p:cNvSpPr>
          <p:nvPr/>
        </p:nvSpPr>
        <p:spPr>
          <a:xfrm>
            <a:off x="855980" y="6403340"/>
            <a:ext cx="7500620" cy="4749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Guest ratings remain consistently high across price points, indicating quality standards are maintained throughout the market spectrum.</a:t>
            </a:r>
            <a:endParaRPr lang="en-us" sz="13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umGGaRMAAAAlAAAAZQAAAA0AAAAAkAAAAEgAAACQAAAASAAAAAAAAAAAAAAAAAAAAAEAAABQAAAAfsaFAyFZwD8AAAAAAADwvwAAAAAAAOA/AAAAAAAA4D8AAAAAAADgPwAAAAAAAOA/AAAAAAAA4D8AAAAAAADgPwAAAAAAAOA/AAAAAAAA4D8CAAAAjAAAAAEAAAAAAAAASgMD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SgMDAP///wEAAAAAAAAAAAAAAAAAAAAAAAAAAAAAAAAAAAAAAAAAAAAAAAB/f38A5+bmA8zMzADAwP8Af39/AAAAAAAAAAAAAAAAAAAAAAAAAAAAIQAAABgAAAAUAAAA4gQAAGcFAADAEwAABggAABAAAAAmAAAACAAAAP//////////"/>
              </a:ext>
            </a:extLst>
          </p:cNvSpPr>
          <p:nvPr/>
        </p:nvSpPr>
        <p:spPr>
          <a:xfrm>
            <a:off x="793750" y="878205"/>
            <a:ext cx="2416810" cy="426085"/>
          </a:xfrm>
          <a:prstGeom prst="roundRect">
            <a:avLst>
              <a:gd name="adj" fmla="val 6386"/>
            </a:avLst>
          </a:prstGeom>
          <a:solidFill>
            <a:srgbClr val="4A0303"/>
          </a:solidFill>
          <a:ln>
            <a:noFill/>
          </a:ln>
          <a:effectLst/>
        </p:spPr>
      </p:sp>
      <p:pic>
        <p:nvPicPr>
          <p:cNvPr id="3" name="Image 0" descr="preencoded.png"/>
          <p:cNvPicPr>
            <a:picLocks noChangeAspect="1"/>
            <a:extLst>
              <a:ext uri="smNativeData">
                <pr:smNativeData xmlns:pr="smNativeData" xmlns="smNativeData" val="SMDATA_17_umGG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T/Pyq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LgFAAAoBgAA1gYAAEUHAAAQAAAAJgAAAAgAAAD//////////w==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640" y="1000760"/>
            <a:ext cx="181610" cy="18097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 1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FoEE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ZQcAANIFAADqEgAAmwcAABAgAAAmAAAACAAAAP//////////"/>
              </a:ext>
            </a:extLst>
          </p:cNvSpPr>
          <p:nvPr/>
        </p:nvSpPr>
        <p:spPr>
          <a:xfrm>
            <a:off x="1202055" y="946150"/>
            <a:ext cx="1872615" cy="2901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PROJECT COMPLETE</a:t>
            </a:r>
            <a:endParaRPr lang="en-us" sz="14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By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gQAAJUIAADEJwAA8QwAABAgAAAmAAAACAAAAP//////////"/>
              </a:ext>
            </a:extLst>
          </p:cNvSpPr>
          <p:nvPr/>
        </p:nvSpPr>
        <p:spPr>
          <a:xfrm>
            <a:off x="793750" y="1395095"/>
            <a:ext cx="5670550" cy="7086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cap="none">
                <a:solidFill>
                  <a:srgbClr val="EFD5FA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Impact &amp; Next Steps</a:t>
            </a:r>
            <a:endParaRPr lang="en-us" sz="4450" cap="none"/>
          </a:p>
        </p:txBody>
      </p:sp>
      <p:sp>
        <p:nvSpPr>
          <p:cNvPr id="6" name="Text 3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ts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gQAAG4QAADQGQAADBMAABAgAAAmAAAACAAAAP//////////"/>
              </a:ext>
            </a:extLst>
          </p:cNvSpPr>
          <p:nvPr/>
        </p:nvSpPr>
        <p:spPr>
          <a:xfrm>
            <a:off x="793750" y="2670810"/>
            <a:ext cx="3402330" cy="4254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cap="none">
                <a:solidFill>
                  <a:srgbClr val="EFD5FA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Achievements</a:t>
            </a:r>
            <a:endParaRPr lang="en-us" sz="2650" cap="none"/>
          </a:p>
        </p:txBody>
      </p:sp>
      <p:sp>
        <p:nvSpPr>
          <p:cNvPr id="7" name="Text 4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kAA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gQAAHEUAABMKwAAXx0AABAAAAAmAAAACAAAAP//////////"/>
              </a:ext>
            </a:extLst>
          </p:cNvSpPr>
          <p:nvPr/>
        </p:nvSpPr>
        <p:spPr>
          <a:xfrm>
            <a:off x="793750" y="3322955"/>
            <a:ext cx="6244590" cy="14516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Successfully delivered an interactive, user-friendly dashboard that transforms complex Airbnb data into actionable insights for hosts, investors, and market analysts.</a:t>
            </a:r>
            <a:endParaRPr lang="en-us" cap="none"/>
          </a:p>
        </p:txBody>
      </p:sp>
      <p:sp>
        <p:nvSpPr>
          <p:cNvPr id="8" name="Text 5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MHA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gQAAMQeAADeFgAA8iAAABAgAAAmAAAACAAAAP//////////"/>
              </a:ext>
            </a:extLst>
          </p:cNvSpPr>
          <p:nvPr/>
        </p:nvSpPr>
        <p:spPr>
          <a:xfrm>
            <a:off x="793750" y="5001260"/>
            <a:ext cx="2923540" cy="3543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cap="none">
                <a:solidFill>
                  <a:srgbClr val="EFD5FA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Future Enhancements</a:t>
            </a:r>
            <a:endParaRPr lang="en-us" sz="2200" cap="none"/>
          </a:p>
        </p:txBody>
      </p:sp>
      <p:sp>
        <p:nvSpPr>
          <p:cNvPr id="9" name="Text 6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bb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gQAAFgiAABMKwAARisAABAAAAAmAAAACAAAAP//////////"/>
              </a:ext>
            </a:extLst>
          </p:cNvSpPr>
          <p:nvPr/>
        </p:nvSpPr>
        <p:spPr>
          <a:xfrm>
            <a:off x="793750" y="5582920"/>
            <a:ext cx="6244590" cy="14516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342900" indent="-342900" algn="l">
              <a:lnSpc>
                <a:spcPts val="2850"/>
              </a:lnSpc>
              <a:buSzTx/>
              <a:buChar char="•"/>
            </a:pPr>
            <a:r>
              <a:rPr lang="en-us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Real-time data integration via Airbnb API</a:t>
            </a:r>
            <a:endParaRPr lang="en-us" cap="none"/>
          </a:p>
          <a:p>
            <a:pPr marL="342900" indent="-342900" algn="l">
              <a:lnSpc>
                <a:spcPts val="2850"/>
              </a:lnSpc>
              <a:buSzTx/>
              <a:buChar char="•"/>
            </a:pPr>
            <a:r>
              <a:rPr lang="en-us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Predictive pricing models using machine learning</a:t>
            </a:r>
            <a:endParaRPr lang="en-us" cap="none"/>
          </a:p>
          <a:p>
            <a:pPr marL="342900" indent="-342900" algn="l">
              <a:lnSpc>
                <a:spcPts val="2850"/>
              </a:lnSpc>
              <a:buSzTx/>
              <a:buChar char="•"/>
            </a:pPr>
            <a:r>
              <a:rPr lang="en-us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Seasonal trend analysis and forecasting</a:t>
            </a:r>
            <a:endParaRPr lang="en-us" cap="none"/>
          </a:p>
          <a:p>
            <a:pPr marL="342900" indent="-342900" algn="l">
              <a:lnSpc>
                <a:spcPts val="2850"/>
              </a:lnSpc>
              <a:buSzTx/>
              <a:buChar char="•"/>
            </a:pPr>
            <a:r>
              <a:rPr lang="en-us" cap="none">
                <a:solidFill>
                  <a:srgbClr val="C7CDD6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Competitive benchmarking tools</a:t>
            </a:r>
            <a:endParaRPr lang="en-us" cap="none"/>
          </a:p>
        </p:txBody>
      </p:sp>
      <p:sp>
        <p:nvSpPr>
          <p:cNvPr id="10" name="Shape 7"/>
          <p:cNvSpPr>
            <a:extLst>
              <a:ext uri="smNativeData">
                <pr:smNativeData xmlns:pr="smNativeData" xmlns="smNativeData" val="SMDATA_15_umGGaRMAAAAlAAAAZQAAAA0AAAAAkAAAAEgAAACQAAAASAAAAAAAAAAAAAAAAAAAAAEAAABQAAAAis3HtaFijD8AAAAAAADwvwAAAAAAAOA/AAAAAAAA4D8AAAAAAADgPwAAAAAAAOA/AAAAAAAA4D8AAAAAAADgPwAAAAAAAOA/AAAAAAAA4D8CAAAAjAAAAAEAAAAAAAAAyMf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VUA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Mf/AP///wEAAAAAAAAAAAAAAAAAAAAAAAAAAAAAAAAAAAAAAAAAAAAAAAB/f38A5+bmA8zMzADAwP8Af39/AAAAAAAAAAAAAAAAAAAAAAAAAAAAIQAAABgAAAAUAAAAvy0AAAkPAAArVgAAOS0AABAAAAAmAAAACAAAAP//////////"/>
              </a:ext>
            </a:extLst>
          </p:cNvSpPr>
          <p:nvPr/>
        </p:nvSpPr>
        <p:spPr>
          <a:xfrm>
            <a:off x="7436485" y="2444115"/>
            <a:ext cx="6570980" cy="4907280"/>
          </a:xfrm>
          <a:prstGeom prst="roundRect">
            <a:avLst>
              <a:gd name="adj" fmla="val 693"/>
            </a:avLst>
          </a:prstGeom>
          <a:solidFill>
            <a:srgbClr val="C8C7FF"/>
          </a:solidFill>
          <a:ln>
            <a:noFill/>
          </a:ln>
          <a:effectLst/>
        </p:spPr>
      </p:sp>
      <p:sp>
        <p:nvSpPr>
          <p:cNvPr id="11" name="Text 8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BMA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JC8AAG4QAACVQAAAnBIAABAgAAAmAAAACAAAAP//////////"/>
              </a:ext>
            </a:extLst>
          </p:cNvSpPr>
          <p:nvPr/>
        </p:nvSpPr>
        <p:spPr>
          <a:xfrm>
            <a:off x="7663180" y="2670810"/>
            <a:ext cx="2835275" cy="3543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cap="none">
                <a:solidFill>
                  <a:srgbClr val="000000"/>
                </a:solidFill>
                <a:latin typeface="Instrument Sans Medium" pitchFamily="0" charset="0"/>
                <a:ea typeface="Instrument Sans Medium" pitchFamily="0" charset="0"/>
                <a:cs typeface="Instrument Sans Medium" pitchFamily="0" charset="0"/>
              </a:rPr>
              <a:t>Ready to Explore</a:t>
            </a:r>
            <a:endParaRPr lang="en-us" sz="2200" cap="none"/>
          </a:p>
        </p:txBody>
      </p:sp>
      <p:sp>
        <p:nvSpPr>
          <p:cNvPr id="12" name="Text 9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k1A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JC8AAAEUAADGVAAAtBoAABAAAAAmAAAACAAAAP//////////"/>
              </a:ext>
            </a:extLst>
          </p:cNvSpPr>
          <p:nvPr/>
        </p:nvSpPr>
        <p:spPr>
          <a:xfrm>
            <a:off x="7663180" y="3251835"/>
            <a:ext cx="6117590" cy="1089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cap="none">
                <a:solidFill>
                  <a:srgbClr val="000000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The dashboard is live and ready for stakeholder review. All visualizations are interactive, with filtering capabilities and drill-down options for deeper analysis.</a:t>
            </a:r>
            <a:endParaRPr lang="en-us" cap="none"/>
          </a:p>
        </p:txBody>
      </p:sp>
      <p:sp>
        <p:nvSpPr>
          <p:cNvPr id="13" name="Text 10"/>
          <p:cNvSpPr>
            <a:extLst>
              <a:ext uri="smNativeData">
                <pr:smNativeData xmlns:pr="smNativeData" xmlns="smNativeData" val="SMDATA_15_umGG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3x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zEAAEYcAADGVAAAvSAAABAAAAAmAAAACAAAAP//////////"/>
              </a:ext>
            </a:extLst>
          </p:cNvSpPr>
          <p:nvPr/>
        </p:nvSpPr>
        <p:spPr>
          <a:xfrm>
            <a:off x="8002905" y="4596130"/>
            <a:ext cx="5777865" cy="7258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i="1" cap="none">
                <a:solidFill>
                  <a:srgbClr val="000000"/>
                </a:solidFill>
                <a:latin typeface="Inter" pitchFamily="0" charset="0"/>
                <a:ea typeface="Inter" pitchFamily="0" charset="0"/>
                <a:cs typeface="Inter" pitchFamily="0" charset="0"/>
              </a:rPr>
              <a:t>"Data visualization turns numbers into narratives, revealing stories hidden within the data."</a:t>
            </a:r>
            <a:endParaRPr lang="en-us" cap="none"/>
          </a:p>
        </p:txBody>
      </p:sp>
      <p:sp>
        <p:nvSpPr>
          <p:cNvPr id="14" name="Shape 11"/>
          <p:cNvSpPr>
            <a:extLst>
              <a:ext uri="smNativeData">
                <pr:smNativeData xmlns:pr="smNativeData" xmlns="smNativeData" val="SMDATA_15_umGGaRMAAAAlAAAAZAAAAA0AAAAAkAAAAEgAAACQAAAASAAAAAAAAAAAAAAAAAAAAAEAAABQAAAAAAAAAAAA4D8AAAAAAADgPwAAAAAAAOA/AAAAAAAA4D8AAAAAAADgPwAAAAAAAOA/AAAAAAAA4D8AAAAAAADgPwAAAAAAAOA/AAAAAAAA4D8CAAAAjAAAAAEAAAAAAAAA/cTE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XA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cTEAP///wEAAAAAAAAAAAAAAAAAAAAAAAAAAAAAAAAAAAAAAAAAAAAAAAB/f38A5+bmA8zMzADAwP8Af39/AAAAAAAAAAAAAAAAAAAAAAAAAAAAIQAAABgAAAAUAAAAJC8AAEYcAABULwAAvSAAABAAAAAmAAAACAAAAP//////////"/>
              </a:ext>
            </a:extLst>
          </p:cNvSpPr>
          <p:nvPr/>
        </p:nvSpPr>
        <p:spPr>
          <a:xfrm>
            <a:off x="7663180" y="4596130"/>
            <a:ext cx="30480" cy="725805"/>
          </a:xfrm>
          <a:prstGeom prst="rect">
            <a:avLst/>
          </a:prstGeom>
          <a:solidFill>
            <a:srgbClr val="FDC4C4"/>
          </a:solidFill>
          <a:ln>
            <a:noFill/>
          </a:ln>
          <a:effectLst/>
        </p:spPr>
      </p:sp>
      <p:sp>
        <p:nvSpPr>
          <p:cNvPr id="15" name="Rectangle1"/>
          <p:cNvSpPr>
            <a:extLst>
              <a:ext uri="smNativeData">
                <pr:smNativeData xmlns:pr="smNativeData" xmlns="smNativeData" val="SMDATA_15_umGGaRMAAAAlAAAAZAAAAA8BAAAAkAAAAEgAAACQAAAASAAAAAAAAAAAAAAAAAAAAAEAAABQAAAAAAAAAAAA4D8AAAAAAADgPwAAAAAAAOA/AAAAAAAA4D8AAAAAAADgPwAAAAAAAOA/AAAAAAAA4D8AAAAAAADgPwAAAAAAAOA/AAAAAAAA4D8CAAAAjAAAAAEAAAAAAAAAODg4qv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AAAAAAAAAAA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ODg44////wEAAAAAAAAAAAAAAAAAAAAAAAAAAAAAAAAAAAAAAAAAAAAAAAJ/f38A5+bmA8zMzADAwP8Af39/AAAAAAAAAAAAAAAAAAAAAAAAAAAAIQAAABgAAAAUAAAARU4AAM0uAAAAWgAAoDIAAAAAAAAmAAAACAAAAP//////////"/>
              </a:ext>
            </a:extLst>
          </p:cNvSpPr>
          <p:nvPr/>
        </p:nvSpPr>
        <p:spPr>
          <a:xfrm>
            <a:off x="12723495" y="7607935"/>
            <a:ext cx="1906905" cy="621665"/>
          </a:xfrm>
          <a:prstGeom prst="rect">
            <a:avLst/>
          </a:prstGeom>
          <a:solidFill>
            <a:schemeClr val="bg2">
              <a:shade val="25000"/>
            </a:schemeClr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RACHANA</cp:lastModifiedBy>
  <cp:revision>0</cp:revision>
  <dcterms:created xsi:type="dcterms:W3CDTF">2026-02-06T21:40:53Z</dcterms:created>
  <dcterms:modified xsi:type="dcterms:W3CDTF">2026-02-06T21:48:42Z</dcterms:modified>
</cp:coreProperties>
</file>